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0c862faaac4431" /><Relationship Type="http://schemas.openxmlformats.org/officeDocument/2006/relationships/extended-properties" Target="/docProps/app.xml" Id="R8cd2540c3bd14f1c" /><Relationship Type="http://schemas.openxmlformats.org/officeDocument/2006/relationships/officeDocument" Target="/ppt/presentation.xml" Id="R4d60dcfe83d741df" /></Relationships>
</file>

<file path=ppt/presentation.xml><?xml version="1.0" encoding="utf-8"?>
<p:presentation xmlns:p="http://schemas.openxmlformats.org/presentationml/2006/main">
  <p:sldMasterIdLst>
    <p:sldMasterId xmlns:r="http://schemas.openxmlformats.org/officeDocument/2006/relationships" id="2147483648" r:id="R3067c0803dc84f33"/>
  </p:sldMasterIdLst>
  <p:notesMasterIdLst>
    <p:notesMasterId xmlns:r="http://schemas.openxmlformats.org/officeDocument/2006/relationships" r:id="Ree1695c1d09345b4"/>
  </p:notesMasterIdLst>
  <p:sldIdLst>
    <p:sldId xmlns:r="http://schemas.openxmlformats.org/officeDocument/2006/relationships" id="256" r:id="Rbb0e46ace1e241f5"/>
    <p:sldId xmlns:r="http://schemas.openxmlformats.org/officeDocument/2006/relationships" id="257" r:id="R43cf9f9b2d634324"/>
    <p:sldId xmlns:r="http://schemas.openxmlformats.org/officeDocument/2006/relationships" id="258" r:id="R4ee8fcf987ff41ce"/>
    <p:sldId xmlns:r="http://schemas.openxmlformats.org/officeDocument/2006/relationships" id="259" r:id="R63dc5ef9fde44bb8"/>
    <p:sldId xmlns:r="http://schemas.openxmlformats.org/officeDocument/2006/relationships" id="260" r:id="R80364b512e614896"/>
    <p:sldId xmlns:r="http://schemas.openxmlformats.org/officeDocument/2006/relationships" id="261" r:id="R6bf8c40dee424307"/>
    <p:sldId xmlns:r="http://schemas.openxmlformats.org/officeDocument/2006/relationships" id="262" r:id="R4e8e3a7a4725450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086bebf6ca4943" /><Relationship Type="http://schemas.openxmlformats.org/officeDocument/2006/relationships/slideMaster" Target="/ppt/slideMasters/slideMaster1.xml" Id="R3067c0803dc84f33" /><Relationship Type="http://schemas.openxmlformats.org/officeDocument/2006/relationships/notesMaster" Target="/ppt/notesMasters/notesMaster1.xml" Id="Ree1695c1d09345b4" /><Relationship Type="http://schemas.openxmlformats.org/officeDocument/2006/relationships/presProps" Target="/ppt/presProps.xml" Id="R2a0dbbc13acb4b7d" /><Relationship Type="http://schemas.openxmlformats.org/officeDocument/2006/relationships/tableStyles" Target="/ppt/tableStyles.xml" Id="R69d11ce3afc446e1" /><Relationship Type="http://schemas.openxmlformats.org/officeDocument/2006/relationships/slide" Target="/ppt/slides/slide1.xml" Id="Rbb0e46ace1e241f5" /><Relationship Type="http://schemas.openxmlformats.org/officeDocument/2006/relationships/slide" Target="/ppt/slides/slide2.xml" Id="R43cf9f9b2d634324" /><Relationship Type="http://schemas.openxmlformats.org/officeDocument/2006/relationships/slide" Target="/ppt/slides/slide3.xml" Id="R4ee8fcf987ff41ce" /><Relationship Type="http://schemas.openxmlformats.org/officeDocument/2006/relationships/slide" Target="/ppt/slides/slide4.xml" Id="R63dc5ef9fde44bb8" /><Relationship Type="http://schemas.openxmlformats.org/officeDocument/2006/relationships/slide" Target="/ppt/slides/slide5.xml" Id="R80364b512e614896" /><Relationship Type="http://schemas.openxmlformats.org/officeDocument/2006/relationships/slide" Target="/ppt/slides/slide6.xml" Id="R6bf8c40dee424307" /><Relationship Type="http://schemas.openxmlformats.org/officeDocument/2006/relationships/slide" Target="/ppt/slides/slide7.xml" Id="R4e8e3a7a472545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6920d226784f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7b41554ee84139" /><Relationship Type="http://schemas.openxmlformats.org/officeDocument/2006/relationships/notesMaster" Target="/ppt/notesMasters/notesMaster1.xml" Id="Rca343cbf2bd145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421c1a47614fa3" /><Relationship Type="http://schemas.openxmlformats.org/officeDocument/2006/relationships/notesMaster" Target="/ppt/notesMasters/notesMaster1.xml" Id="Rc6aadc712bae4a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84bf7758464d44" /><Relationship Type="http://schemas.openxmlformats.org/officeDocument/2006/relationships/notesMaster" Target="/ppt/notesMasters/notesMaster1.xml" Id="Re17c3504604f4e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729dcf586f4334" /><Relationship Type="http://schemas.openxmlformats.org/officeDocument/2006/relationships/notesMaster" Target="/ppt/notesMasters/notesMaster1.xml" Id="R9277c606ab5a45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a3411c5f0b4368" /><Relationship Type="http://schemas.openxmlformats.org/officeDocument/2006/relationships/notesMaster" Target="/ppt/notesMasters/notesMaster1.xml" Id="R092caaa996a840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ed7d0defe1496e" /><Relationship Type="http://schemas.openxmlformats.org/officeDocument/2006/relationships/notesMaster" Target="/ppt/notesMasters/notesMaster1.xml" Id="R942e0edcea6a4c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af3f5a06b94195" /><Relationship Type="http://schemas.openxmlformats.org/officeDocument/2006/relationships/notesMaster" Target="/ppt/notesMasters/notesMaster1.xml" Id="Rc04a8587aaad4c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RouteMind is a proposed web-based delivery planning system for small businesses. It plans routes for multiple orders and vehicles while considering load capacity, order priority and delivery time windows. This presentation covers the problem, context DFD, Level 1 decomposition, Level 2 route optimization, algorithm approach and system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proposal, not a claim of measured savings. The system accepts delivery addresses, order load, priority, time windows and service time, plus vehicle capacities and driver availability. It validates the inputs, prepares routes and monitors delivery updates. Capacity and time windows can be treated as hard limits. Priority helps order feasible deliveries. Added, cancelled or delayed orders trigger replanning of unfinished stops while preserving completed deliveries. Infeasible orders are flagged for the business to resolve.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DFD: Business/Admin submits orders, fleet details, planning constraints and analytics requests. RouteMind returns route plans, analytics and exceptions. Driver sends current location and delivery events and receives assigned routes and changes. Customer supplies delivery preferences or address corrections and receives an estimated arrival time and delivery status. The customer input is an assumed proposed feature to make the customer interaction explicit. RouteMind queries a Map/Routing API and receives location, distance and travel-time data. Rectangles denote external entities and the ellipse denotes the complete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1 decomposition: 1 manages orders, addresses and preferences in D2. 2 manages business records in D1, vehicle records in D3 and driver records in D4. 3 validates orders against capacities, availability and planning constraints, reading D2/D3/D4 and returning input problems to the business. 4 receives validated inputs from 3, uses map data and D6, stores route plans in D5 and run metrics or failures in D8, and sends plans to 5 and the Business. 5 receives driver locations and delivery events, updates D6/D7 and route progress in D5, sends ETA/status to Customer and route updates to Driver, and sends changed delivery data to 4 for replanning. 6 reads D5/D7/D8 to produce requested analytics. Repeated store labels refer to the same stores. The internal flows are explicitly stated below the diagram to avoid overlapping lines. Customer inputs are handled by 1; the combined actor label in 5 does not imply that customers send driver location 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Level 2 expands process 4. Receive Orders reads the validated order set. Retrieve Constraints adds capacity, driver availability, time windows and service times. Get Distances obtains a travel matrix from D6 and the Map API. Generate Initial Route constructs a feasible seed route where possible. Apply Optimization uses greedy improvement and 2-opt/local search to generate candidate routes. Check Constraints returns violation details for revision or sends a feasible plan to Calculate Metrics. Metrics include distance, estimated duration and a cost estimate based on supplied cost rules. Store Route writes D5 and the run outcome goes to D8. Infeasible orders remain explicit exceptions; the system must not silently break a hard constraint. A practical implementation needs a bounded search budget and a no-feasible-plan outcome. Map API requests and responses pass through the distance retrieval process and its cached location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greedy rule makes a locally useful choice while constructing or improving a plan. It does not prove global optimality. A 2-opt move cuts two edges and reverses the intermediate sequence; the system accepts the change only if the route remains feasible and improves the objective. With multiple vehicles, initial allocation chooses feasible vehicle assignments and local search can also relocate orders between vehicles. Time windows require arrival-time and service-time checks. Replanning preserves completed deliveries and accounts for current location, remaining load and driver availability. Metrics are estimated, not promised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architecture rather than a claim of an implemented deployment. The frontend supports business planning, driver execution and customer status views. The backend enforces role-based authorization, validates data, computes routes, accepts delivery events and handles notifications. The database contains the eight named logical stores. A Map/Routing API supplies coordinates, distance and estimated travel time. Analytics can show planned versus actual duration, completed deliveries, pending deliveries and optimization run outcomes. API keys stay on the backend. Benefits are expected outcomes, with no invented performance or savings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5ed7ddef9c41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ce69af96804cc9" /><Relationship Type="http://schemas.openxmlformats.org/officeDocument/2006/relationships/slideLayout" Target="/ppt/slideLayouts/slideLayout1.xml" Id="Rfefe2493b2b44a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fe2493b2b44a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d18d05dc024e61" /><Relationship Type="http://schemas.openxmlformats.org/officeDocument/2006/relationships/notesSlide" Target="/ppt/notesSlides/notesSlide1.xml" Id="R1d991f4c47a54b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951feaff454044" /><Relationship Type="http://schemas.openxmlformats.org/officeDocument/2006/relationships/notesSlide" Target="/ppt/notesSlides/notesSlide2.xml" Id="R0d254af851744f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b3fd31bff7444b" /><Relationship Type="http://schemas.openxmlformats.org/officeDocument/2006/relationships/notesSlide" Target="/ppt/notesSlides/notesSlide3.xml" Id="R71c60a22fec24e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33f6daf0f34a01" /><Relationship Type="http://schemas.openxmlformats.org/officeDocument/2006/relationships/notesSlide" Target="/ppt/notesSlides/notesSlide4.xml" Id="R8299fba23b5b47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480381cd9b4e90" /><Relationship Type="http://schemas.openxmlformats.org/officeDocument/2006/relationships/notesSlide" Target="/ppt/notesSlides/notesSlide5.xml" Id="Rac9d714f936340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248bbf9a744920" /><Relationship Type="http://schemas.openxmlformats.org/officeDocument/2006/relationships/notesSlide" Target="/ppt/notesSlides/notesSlide6.xml" Id="Raa9f39482f6f40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4e3f99dc0f425d" /><Relationship Type="http://schemas.openxmlformats.org/officeDocument/2006/relationships/notesSlide" Target="/ppt/notesSlides/notesSlide7.xml" Id="Rbad745e48c7745c7" /></Relationships>
</file>

<file path=ppt/slides/slide1.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9D8FAC-DBD3-481F-9A01-6838529424D4}"/>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SOFTWARE ENGINEERING PROJECT</a:t>
            </a:r>
          </a:p>
        </p:txBody>
      </p:sp>
      <p:sp>
        <p:nvSpPr>
          <p:cNvPr id="2" name="">
            <a:extLst xmlns:a="http://schemas.openxmlformats.org/drawingml/2006/main">
              <a:ext uri="{FF2B5EF4-FFF2-40B4-BE49-F238E27FC236}">
                <a16:creationId xmlns:a16="http://schemas.microsoft.com/office/drawing/2014/main" id="{6F9C47ED-7D02-4971-BD67-D7EACF6113A9}"/>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3" name="">
            <a:extLst xmlns:a="http://schemas.openxmlformats.org/drawingml/2006/main">
              <a:ext uri="{FF2B5EF4-FFF2-40B4-BE49-F238E27FC236}">
                <a16:creationId xmlns:a16="http://schemas.microsoft.com/office/drawing/2014/main" id="{0C6E0F10-8E29-46FA-B00F-B3FD7AA90A35}"/>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6607FC0-417D-49E3-A384-F46E808EA599}"/>
              </a:ext>
            </a:extLst>
          </p:cNvPr>
          <p:cNvSpPr>
            <a:spLocks xmlns:a="http://schemas.openxmlformats.org/drawingml/2006/main" noGrp="1"/>
          </p:cNvSpPr>
          <p:nvPr/>
        </p:nvSpPr>
        <p:spPr>
          <a:xfrm xmlns:a="http://schemas.openxmlformats.org/drawingml/2006/main">
            <a:off x="619125" y="2209800"/>
            <a:ext cx="14001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400" b="1">
                <a:solidFill>
                  <a:srgbClr val="15334B"/>
                </a:solidFill>
                <a:latin typeface="Arial"/>
                <a:ea typeface="Arial"/>
                <a:cs typeface="Arial"/>
              </a:defRPr>
            </a:pPr>
            <a:r>
              <a:rPr sz="8400" b="1">
                <a:solidFill>
                  <a:srgbClr val="15334B"/>
                </a:solidFill>
                <a:latin typeface="Arial"/>
                <a:ea typeface="Arial"/>
                <a:cs typeface="Arial"/>
              </a:rPr>
              <a:t>RouteMind</a:t>
            </a:r>
          </a:p>
        </p:txBody>
      </p:sp>
      <p:sp>
        <p:nvSpPr>
          <p:cNvPr id="5" name="">
            <a:extLst xmlns:a="http://schemas.openxmlformats.org/drawingml/2006/main">
              <a:ext uri="{FF2B5EF4-FFF2-40B4-BE49-F238E27FC236}">
                <a16:creationId xmlns:a16="http://schemas.microsoft.com/office/drawing/2014/main" id="{C852094E-8F68-495D-96C4-F38257341745}"/>
              </a:ext>
            </a:extLst>
          </p:cNvPr>
          <p:cNvSpPr>
            <a:spLocks xmlns:a="http://schemas.openxmlformats.org/drawingml/2006/main" noGrp="1"/>
          </p:cNvSpPr>
          <p:nvPr/>
        </p:nvSpPr>
        <p:spPr>
          <a:xfrm xmlns:a="http://schemas.openxmlformats.org/drawingml/2006/main">
            <a:off x="685800" y="3924300"/>
            <a:ext cx="1362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825" b="0">
                <a:solidFill>
                  <a:srgbClr val="15334B"/>
                </a:solidFill>
                <a:latin typeface="Arial"/>
                <a:ea typeface="Arial"/>
                <a:cs typeface="Arial"/>
              </a:defRPr>
            </a:pPr>
            <a:r>
              <a:rPr sz="3825" b="0">
                <a:solidFill>
                  <a:srgbClr val="15334B"/>
                </a:solidFill>
                <a:latin typeface="Arial"/>
                <a:ea typeface="Arial"/>
                <a:cs typeface="Arial"/>
              </a:rPr>
              <a:t>Logistics Route Optimization</a:t>
            </a:r>
          </a:p>
        </p:txBody>
      </p:sp>
      <p:sp>
        <p:nvSpPr>
          <p:cNvPr id="6" name="">
            <a:extLst xmlns:a="http://schemas.openxmlformats.org/drawingml/2006/main">
              <a:ext uri="{FF2B5EF4-FFF2-40B4-BE49-F238E27FC236}">
                <a16:creationId xmlns:a16="http://schemas.microsoft.com/office/drawing/2014/main" id="{52883BF8-CFA3-47EE-9D98-12AF7FC28F0D}"/>
              </a:ext>
            </a:extLst>
          </p:cNvPr>
          <p:cNvSpPr>
            <a:spLocks xmlns:a="http://schemas.openxmlformats.org/drawingml/2006/main" noGrp="1"/>
          </p:cNvSpPr>
          <p:nvPr/>
        </p:nvSpPr>
        <p:spPr>
          <a:xfrm xmlns:a="http://schemas.openxmlformats.org/drawingml/2006/main">
            <a:off x="714375" y="4838700"/>
            <a:ext cx="1323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0">
                <a:solidFill>
                  <a:srgbClr val="526E80"/>
                </a:solidFill>
                <a:latin typeface="Arial"/>
                <a:ea typeface="Arial"/>
                <a:cs typeface="Arial"/>
              </a:defRPr>
            </a:pPr>
            <a:r>
              <a:rPr sz="2250" b="0">
                <a:solidFill>
                  <a:srgbClr val="526E80"/>
                </a:solidFill>
                <a:latin typeface="Arial"/>
                <a:ea typeface="Arial"/>
                <a:cs typeface="Arial"/>
              </a:rPr>
              <a:t>Delivery planning for small businesses</a:t>
            </a:r>
          </a:p>
        </p:txBody>
      </p:sp>
      <p:sp>
        <p:nvSpPr>
          <p:cNvPr id="7" name="">
            <a:extLst xmlns:a="http://schemas.openxmlformats.org/drawingml/2006/main">
              <a:ext uri="{FF2B5EF4-FFF2-40B4-BE49-F238E27FC236}">
                <a16:creationId xmlns:a16="http://schemas.microsoft.com/office/drawing/2014/main" id="{1EA5C15D-F590-4B7A-85DD-842621891B2F}"/>
              </a:ext>
            </a:extLst>
          </p:cNvPr>
          <p:cNvSpPr>
            <a:spLocks xmlns:a="http://schemas.openxmlformats.org/drawingml/2006/main" noGrp="1"/>
          </p:cNvSpPr>
          <p:nvPr/>
        </p:nvSpPr>
        <p:spPr>
          <a:xfrm xmlns:a="http://schemas.openxmlformats.org/drawingml/2006/main">
            <a:off x="714375" y="6219825"/>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Presented by</a:t>
            </a:r>
          </a:p>
        </p:txBody>
      </p:sp>
      <p:sp>
        <p:nvSpPr>
          <p:cNvPr id="8" name="">
            <a:extLst xmlns:a="http://schemas.openxmlformats.org/drawingml/2006/main">
              <a:ext uri="{FF2B5EF4-FFF2-40B4-BE49-F238E27FC236}">
                <a16:creationId xmlns:a16="http://schemas.microsoft.com/office/drawing/2014/main" id="{A64FE157-C2F8-4DD8-AD72-F5B6508293F7}"/>
              </a:ext>
            </a:extLst>
          </p:cNvPr>
          <p:cNvSpPr>
            <a:spLocks xmlns:a="http://schemas.openxmlformats.org/drawingml/2006/main" noGrp="1"/>
          </p:cNvSpPr>
          <p:nvPr/>
        </p:nvSpPr>
        <p:spPr>
          <a:xfrm xmlns:a="http://schemas.openxmlformats.org/drawingml/2006/main">
            <a:off x="714375" y="6743700"/>
            <a:ext cx="1362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0">
                <a:solidFill>
                  <a:srgbClr val="15334B"/>
                </a:solidFill>
                <a:latin typeface="Arial"/>
                <a:ea typeface="Arial"/>
                <a:cs typeface="Arial"/>
              </a:defRPr>
            </a:pPr>
            <a:r>
              <a:rPr sz="2400" b="0">
                <a:solidFill>
                  <a:srgbClr val="15334B"/>
                </a:solidFill>
                <a:latin typeface="Arial"/>
                <a:ea typeface="Arial"/>
                <a:cs typeface="Arial"/>
              </a:rPr>
              <a:t>Keha Chopra     Suhani     Palavi     Ishita</a:t>
            </a:r>
          </a:p>
        </p:txBody>
      </p:sp>
    </p:spTree>
    <p:extLst>
      <p:ext uri="{BB962C8B-B14F-4D97-AF65-F5344CB8AC3E}">
        <p14:creationId xmlns:p14="http://schemas.microsoft.com/office/powerpoint/2010/main" val="1044612840"/>
      </p:ext>
    </p:extLst>
  </p:cSld>
</p:sld>
</file>

<file path=ppt/slides/slide2.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DEC5623-A7F8-4525-BB95-859D92BBBC8D}"/>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The delivery planning problem</a:t>
            </a:r>
          </a:p>
        </p:txBody>
      </p:sp>
      <p:sp>
        <p:nvSpPr>
          <p:cNvPr id="2" name="">
            <a:extLst xmlns:a="http://schemas.openxmlformats.org/drawingml/2006/main">
              <a:ext uri="{FF2B5EF4-FFF2-40B4-BE49-F238E27FC236}">
                <a16:creationId xmlns:a16="http://schemas.microsoft.com/office/drawing/2014/main" id="{43C144BB-0C55-4416-B2AA-634684EF52E1}"/>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A short route alone may still miss a delivery window or exceed a vehicle’s capacity.</a:t>
            </a:r>
          </a:p>
        </p:txBody>
      </p:sp>
      <p:sp>
        <p:nvSpPr>
          <p:cNvPr id="3" name="">
            <a:extLst xmlns:a="http://schemas.openxmlformats.org/drawingml/2006/main">
              <a:ext uri="{FF2B5EF4-FFF2-40B4-BE49-F238E27FC236}">
                <a16:creationId xmlns:a16="http://schemas.microsoft.com/office/drawing/2014/main" id="{DF09042D-61F1-4088-8DEC-9E52099EE704}"/>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3FAC2258-1A73-45AA-8952-D8D7FF4C0A8E}"/>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C186EE7-65D5-4737-8A7D-60522A91A9D2}"/>
              </a:ext>
            </a:extLst>
          </p:cNvPr>
          <p:cNvSpPr>
            <a:spLocks xmlns:a="http://schemas.openxmlformats.org/drawingml/2006/main" noGrp="1"/>
          </p:cNvSpPr>
          <p:nvPr/>
        </p:nvSpPr>
        <p:spPr>
          <a:xfrm xmlns:a="http://schemas.openxmlformats.org/drawingml/2006/main">
            <a:off x="619125" y="20288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What businesses need to manage</a:t>
            </a:r>
          </a:p>
        </p:txBody>
      </p:sp>
      <p:sp>
        <p:nvSpPr>
          <p:cNvPr id="6" name="">
            <a:extLst xmlns:a="http://schemas.openxmlformats.org/drawingml/2006/main">
              <a:ext uri="{FF2B5EF4-FFF2-40B4-BE49-F238E27FC236}">
                <a16:creationId xmlns:a16="http://schemas.microsoft.com/office/drawing/2014/main" id="{C5BCDDF1-FBDC-44CC-8B12-5628BB2737FE}"/>
              </a:ext>
            </a:extLst>
          </p:cNvPr>
          <p:cNvSpPr>
            <a:spLocks xmlns:a="http://schemas.openxmlformats.org/drawingml/2006/main" noGrp="1"/>
          </p:cNvSpPr>
          <p:nvPr/>
        </p:nvSpPr>
        <p:spPr>
          <a:xfrm xmlns:a="http://schemas.openxmlformats.org/drawingml/2006/main">
            <a:off x="619125" y="283845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Multiple deliveries</a:t>
            </a:r>
          </a:p>
        </p:txBody>
      </p:sp>
      <p:sp>
        <p:nvSpPr>
          <p:cNvPr id="7" name="">
            <a:extLst xmlns:a="http://schemas.openxmlformats.org/drawingml/2006/main">
              <a:ext uri="{FF2B5EF4-FFF2-40B4-BE49-F238E27FC236}">
                <a16:creationId xmlns:a16="http://schemas.microsoft.com/office/drawing/2014/main" id="{B3EDCC6C-2B92-4CDF-908A-4FC06D439E29}"/>
              </a:ext>
            </a:extLst>
          </p:cNvPr>
          <p:cNvSpPr>
            <a:spLocks xmlns:a="http://schemas.openxmlformats.org/drawingml/2006/main" noGrp="1"/>
          </p:cNvSpPr>
          <p:nvPr/>
        </p:nvSpPr>
        <p:spPr>
          <a:xfrm xmlns:a="http://schemas.openxmlformats.org/drawingml/2006/main">
            <a:off x="619125" y="3238500"/>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A useful stop sequence for each driver.</a:t>
            </a:r>
          </a:p>
        </p:txBody>
      </p:sp>
      <p:sp>
        <p:nvSpPr>
          <p:cNvPr id="8" name="">
            <a:extLst xmlns:a="http://schemas.openxmlformats.org/drawingml/2006/main">
              <a:ext uri="{FF2B5EF4-FFF2-40B4-BE49-F238E27FC236}">
                <a16:creationId xmlns:a16="http://schemas.microsoft.com/office/drawing/2014/main" id="{30798760-AE23-492E-9957-4E87CC02F747}"/>
              </a:ext>
            </a:extLst>
          </p:cNvPr>
          <p:cNvSpPr>
            <a:spLocks xmlns:a="http://schemas.openxmlformats.org/drawingml/2006/main" noGrp="1"/>
          </p:cNvSpPr>
          <p:nvPr/>
        </p:nvSpPr>
        <p:spPr>
          <a:xfrm xmlns:a="http://schemas.openxmlformats.org/drawingml/2006/main">
            <a:off x="619125" y="387667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Vehicle capacity</a:t>
            </a:r>
          </a:p>
        </p:txBody>
      </p:sp>
      <p:sp>
        <p:nvSpPr>
          <p:cNvPr id="9" name="">
            <a:extLst xmlns:a="http://schemas.openxmlformats.org/drawingml/2006/main">
              <a:ext uri="{FF2B5EF4-FFF2-40B4-BE49-F238E27FC236}">
                <a16:creationId xmlns:a16="http://schemas.microsoft.com/office/drawing/2014/main" id="{A4AD210A-C319-473E-AE31-FF02E5D156A7}"/>
              </a:ext>
            </a:extLst>
          </p:cNvPr>
          <p:cNvSpPr>
            <a:spLocks xmlns:a="http://schemas.openxmlformats.org/drawingml/2006/main" noGrp="1"/>
          </p:cNvSpPr>
          <p:nvPr/>
        </p:nvSpPr>
        <p:spPr>
          <a:xfrm xmlns:a="http://schemas.openxmlformats.org/drawingml/2006/main">
            <a:off x="619125" y="4276725"/>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Loads must fit the assigned vehicle.</a:t>
            </a:r>
          </a:p>
        </p:txBody>
      </p:sp>
      <p:sp>
        <p:nvSpPr>
          <p:cNvPr id="10" name="">
            <a:extLst xmlns:a="http://schemas.openxmlformats.org/drawingml/2006/main">
              <a:ext uri="{FF2B5EF4-FFF2-40B4-BE49-F238E27FC236}">
                <a16:creationId xmlns:a16="http://schemas.microsoft.com/office/drawing/2014/main" id="{F1827B48-5AB5-4A8D-8C9C-BA14C2423F73}"/>
              </a:ext>
            </a:extLst>
          </p:cNvPr>
          <p:cNvSpPr>
            <a:spLocks xmlns:a="http://schemas.openxmlformats.org/drawingml/2006/main" noGrp="1"/>
          </p:cNvSpPr>
          <p:nvPr/>
        </p:nvSpPr>
        <p:spPr>
          <a:xfrm xmlns:a="http://schemas.openxmlformats.org/drawingml/2006/main">
            <a:off x="619125" y="4914900"/>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Priority and time windows</a:t>
            </a:r>
          </a:p>
        </p:txBody>
      </p:sp>
      <p:sp>
        <p:nvSpPr>
          <p:cNvPr id="11" name="">
            <a:extLst xmlns:a="http://schemas.openxmlformats.org/drawingml/2006/main">
              <a:ext uri="{FF2B5EF4-FFF2-40B4-BE49-F238E27FC236}">
                <a16:creationId xmlns:a16="http://schemas.microsoft.com/office/drawing/2014/main" id="{7E9966B3-71B0-4CBE-B4B4-103AEEA4BDF3}"/>
              </a:ext>
            </a:extLst>
          </p:cNvPr>
          <p:cNvSpPr>
            <a:spLocks xmlns:a="http://schemas.openxmlformats.org/drawingml/2006/main" noGrp="1"/>
          </p:cNvSpPr>
          <p:nvPr/>
        </p:nvSpPr>
        <p:spPr>
          <a:xfrm xmlns:a="http://schemas.openxmlformats.org/drawingml/2006/main">
            <a:off x="619125" y="5314950"/>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Urgent orders and customer availability matter.</a:t>
            </a:r>
          </a:p>
        </p:txBody>
      </p:sp>
      <p:sp>
        <p:nvSpPr>
          <p:cNvPr id="12" name="">
            <a:extLst xmlns:a="http://schemas.openxmlformats.org/drawingml/2006/main">
              <a:ext uri="{FF2B5EF4-FFF2-40B4-BE49-F238E27FC236}">
                <a16:creationId xmlns:a16="http://schemas.microsoft.com/office/drawing/2014/main" id="{402E2D03-D4B6-45FF-8A20-2364CB6AADF0}"/>
              </a:ext>
            </a:extLst>
          </p:cNvPr>
          <p:cNvSpPr>
            <a:spLocks xmlns:a="http://schemas.openxmlformats.org/drawingml/2006/main" noGrp="1"/>
          </p:cNvSpPr>
          <p:nvPr/>
        </p:nvSpPr>
        <p:spPr>
          <a:xfrm xmlns:a="http://schemas.openxmlformats.org/drawingml/2006/main">
            <a:off x="619125" y="595312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Multiple drivers</a:t>
            </a:r>
          </a:p>
        </p:txBody>
      </p:sp>
      <p:sp>
        <p:nvSpPr>
          <p:cNvPr id="13" name="">
            <a:extLst xmlns:a="http://schemas.openxmlformats.org/drawingml/2006/main">
              <a:ext uri="{FF2B5EF4-FFF2-40B4-BE49-F238E27FC236}">
                <a16:creationId xmlns:a16="http://schemas.microsoft.com/office/drawing/2014/main" id="{CBC744C2-081B-4E83-A484-92E5F67843F2}"/>
              </a:ext>
            </a:extLst>
          </p:cNvPr>
          <p:cNvSpPr>
            <a:spLocks xmlns:a="http://schemas.openxmlformats.org/drawingml/2006/main" noGrp="1"/>
          </p:cNvSpPr>
          <p:nvPr/>
        </p:nvSpPr>
        <p:spPr>
          <a:xfrm xmlns:a="http://schemas.openxmlformats.org/drawingml/2006/main">
            <a:off x="619125" y="6353175"/>
            <a:ext cx="638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Work must match available drivers and vehicles.</a:t>
            </a:r>
          </a:p>
        </p:txBody>
      </p:sp>
      <p:sp>
        <p:nvSpPr>
          <p:cNvPr id="14" name="">
            <a:extLst xmlns:a="http://schemas.openxmlformats.org/drawingml/2006/main">
              <a:ext uri="{FF2B5EF4-FFF2-40B4-BE49-F238E27FC236}">
                <a16:creationId xmlns:a16="http://schemas.microsoft.com/office/drawing/2014/main" id="{3F73D128-4453-4953-8DD2-ABCDD29A14A6}"/>
              </a:ext>
            </a:extLst>
          </p:cNvPr>
          <p:cNvSpPr>
            <a:spLocks xmlns:a="http://schemas.openxmlformats.org/drawingml/2006/main" noGrp="1"/>
          </p:cNvSpPr>
          <p:nvPr/>
        </p:nvSpPr>
        <p:spPr>
          <a:xfrm xmlns:a="http://schemas.openxmlformats.org/drawingml/2006/main">
            <a:off x="7858125" y="20288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RouteMind’s proposed solution</a:t>
            </a:r>
          </a:p>
        </p:txBody>
      </p:sp>
      <p:sp>
        <p:nvSpPr>
          <p:cNvPr id="15" name="">
            <a:extLst xmlns:a="http://schemas.openxmlformats.org/drawingml/2006/main">
              <a:ext uri="{FF2B5EF4-FFF2-40B4-BE49-F238E27FC236}">
                <a16:creationId xmlns:a16="http://schemas.microsoft.com/office/drawing/2014/main" id="{F401C1C5-C6EF-49F7-8D01-A88B6E3525BE}"/>
              </a:ext>
            </a:extLst>
          </p:cNvPr>
          <p:cNvSpPr>
            <a:spLocks xmlns:a="http://schemas.openxmlformats.org/drawingml/2006/main" noGrp="1"/>
          </p:cNvSpPr>
          <p:nvPr/>
        </p:nvSpPr>
        <p:spPr>
          <a:xfrm xmlns:a="http://schemas.openxmlformats.org/drawingml/2006/main">
            <a:off x="7858125" y="2857500"/>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INPUT</a:t>
            </a:r>
          </a:p>
        </p:txBody>
      </p:sp>
      <p:sp>
        <p:nvSpPr>
          <p:cNvPr id="16" name="">
            <a:extLst xmlns:a="http://schemas.openxmlformats.org/drawingml/2006/main">
              <a:ext uri="{FF2B5EF4-FFF2-40B4-BE49-F238E27FC236}">
                <a16:creationId xmlns:a16="http://schemas.microsoft.com/office/drawing/2014/main" id="{7527D4C8-25A4-4FA2-8D18-5CD3E88A33C2}"/>
              </a:ext>
            </a:extLst>
          </p:cNvPr>
          <p:cNvSpPr>
            <a:spLocks xmlns:a="http://schemas.openxmlformats.org/drawingml/2006/main" noGrp="1"/>
          </p:cNvSpPr>
          <p:nvPr/>
        </p:nvSpPr>
        <p:spPr>
          <a:xfrm xmlns:a="http://schemas.openxmlformats.org/drawingml/2006/main">
            <a:off x="7858125" y="32480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Orders, locations, vehicles, drivers,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capacity, priority and time limits</a:t>
            </a:r>
          </a:p>
        </p:txBody>
      </p:sp>
      <p:sp>
        <p:nvSpPr>
          <p:cNvPr id="17" name="">
            <a:extLst xmlns:a="http://schemas.openxmlformats.org/drawingml/2006/main">
              <a:ext uri="{FF2B5EF4-FFF2-40B4-BE49-F238E27FC236}">
                <a16:creationId xmlns:a16="http://schemas.microsoft.com/office/drawing/2014/main" id="{794F9832-7E47-4BD2-B69A-0D1F29148405}"/>
              </a:ext>
            </a:extLst>
          </p:cNvPr>
          <p:cNvSpPr>
            <a:spLocks xmlns:a="http://schemas.openxmlformats.org/drawingml/2006/main" noGrp="1"/>
          </p:cNvSpPr>
          <p:nvPr/>
        </p:nvSpPr>
        <p:spPr>
          <a:xfrm xmlns:a="http://schemas.openxmlformats.org/drawingml/2006/main">
            <a:off x="7858125" y="4419600"/>
            <a:ext cx="190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PLANNING</a:t>
            </a:r>
          </a:p>
        </p:txBody>
      </p:sp>
      <p:sp>
        <p:nvSpPr>
          <p:cNvPr id="18" name="">
            <a:extLst xmlns:a="http://schemas.openxmlformats.org/drawingml/2006/main">
              <a:ext uri="{FF2B5EF4-FFF2-40B4-BE49-F238E27FC236}">
                <a16:creationId xmlns:a16="http://schemas.microsoft.com/office/drawing/2014/main" id="{FA8722D4-108F-4ADF-976E-2B0B857C36FE}"/>
              </a:ext>
            </a:extLst>
          </p:cNvPr>
          <p:cNvSpPr>
            <a:spLocks xmlns:a="http://schemas.openxmlformats.org/drawingml/2006/main" noGrp="1"/>
          </p:cNvSpPr>
          <p:nvPr/>
        </p:nvSpPr>
        <p:spPr>
          <a:xfrm xmlns:a="http://schemas.openxmlformats.org/drawingml/2006/main">
            <a:off x="7858125" y="4810125"/>
            <a:ext cx="647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Validate inputs and find a feasible</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route plan with a lower travel cost.</a:t>
            </a:r>
          </a:p>
        </p:txBody>
      </p:sp>
      <p:sp>
        <p:nvSpPr>
          <p:cNvPr id="19" name="">
            <a:extLst xmlns:a="http://schemas.openxmlformats.org/drawingml/2006/main">
              <a:ext uri="{FF2B5EF4-FFF2-40B4-BE49-F238E27FC236}">
                <a16:creationId xmlns:a16="http://schemas.microsoft.com/office/drawing/2014/main" id="{25378216-D746-4531-8C91-8CC6ABFDFF11}"/>
              </a:ext>
            </a:extLst>
          </p:cNvPr>
          <p:cNvSpPr>
            <a:spLocks xmlns:a="http://schemas.openxmlformats.org/drawingml/2006/main" noGrp="1"/>
          </p:cNvSpPr>
          <p:nvPr/>
        </p:nvSpPr>
        <p:spPr>
          <a:xfrm xmlns:a="http://schemas.openxmlformats.org/drawingml/2006/main">
            <a:off x="7858125" y="6000750"/>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2874A1"/>
                </a:solidFill>
                <a:latin typeface="Arial"/>
                <a:ea typeface="Arial"/>
                <a:cs typeface="Arial"/>
              </a:defRPr>
            </a:pPr>
            <a:r>
              <a:rPr sz="1500" b="1">
                <a:solidFill>
                  <a:srgbClr val="2874A1"/>
                </a:solidFill>
                <a:latin typeface="Arial"/>
                <a:ea typeface="Arial"/>
                <a:cs typeface="Arial"/>
              </a:rPr>
              <a:t>OUTPUT</a:t>
            </a:r>
          </a:p>
        </p:txBody>
      </p:sp>
      <p:sp>
        <p:nvSpPr>
          <p:cNvPr id="20" name="">
            <a:extLst xmlns:a="http://schemas.openxmlformats.org/drawingml/2006/main">
              <a:ext uri="{FF2B5EF4-FFF2-40B4-BE49-F238E27FC236}">
                <a16:creationId xmlns:a16="http://schemas.microsoft.com/office/drawing/2014/main" id="{E84218F0-901D-46F5-A785-EAC766E46D70}"/>
              </a:ext>
            </a:extLst>
          </p:cNvPr>
          <p:cNvSpPr>
            <a:spLocks xmlns:a="http://schemas.openxmlformats.org/drawingml/2006/main" noGrp="1"/>
          </p:cNvSpPr>
          <p:nvPr/>
        </p:nvSpPr>
        <p:spPr>
          <a:xfrm xmlns:a="http://schemas.openxmlformats.org/drawingml/2006/main">
            <a:off x="7858125" y="6391275"/>
            <a:ext cx="657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Driver routes, estimated arrival times,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delivery progress and analytics</a:t>
            </a:r>
          </a:p>
        </p:txBody>
      </p:sp>
      <p:sp>
        <p:nvSpPr>
          <p:cNvPr id="21" name="">
            <a:extLst xmlns:a="http://schemas.openxmlformats.org/drawingml/2006/main">
              <a:ext uri="{FF2B5EF4-FFF2-40B4-BE49-F238E27FC236}">
                <a16:creationId xmlns:a16="http://schemas.microsoft.com/office/drawing/2014/main" id="{03196FB9-0D73-4EAB-A78A-BC099C8A80AE}"/>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When an order changes, RouteMind recalculates the remaining deliveries and informs the affected driver.</a:t>
            </a:r>
          </a:p>
        </p:txBody>
      </p:sp>
    </p:spTree>
    <p:extLst>
      <p:ext uri="{BB962C8B-B14F-4D97-AF65-F5344CB8AC3E}">
        <p14:creationId xmlns:p14="http://schemas.microsoft.com/office/powerpoint/2010/main" val="1469638619"/>
      </p:ext>
    </p:extLst>
  </p:cSld>
</p:sld>
</file>

<file path=ppt/slides/slide3.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7C7D397-4316-49A1-A71B-6354FCA356C4}"/>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0: system context</a:t>
            </a:r>
          </a:p>
        </p:txBody>
      </p:sp>
      <p:sp>
        <p:nvSpPr>
          <p:cNvPr id="2" name="">
            <a:extLst xmlns:a="http://schemas.openxmlformats.org/drawingml/2006/main">
              <a:ext uri="{FF2B5EF4-FFF2-40B4-BE49-F238E27FC236}">
                <a16:creationId xmlns:a16="http://schemas.microsoft.com/office/drawing/2014/main" id="{05B69D77-A376-458B-9146-1C7698D1F759}"/>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One system process exchanges data with four external entities.</a:t>
            </a:r>
          </a:p>
        </p:txBody>
      </p:sp>
      <p:sp>
        <p:nvSpPr>
          <p:cNvPr id="3" name="">
            <a:extLst xmlns:a="http://schemas.openxmlformats.org/drawingml/2006/main">
              <a:ext uri="{FF2B5EF4-FFF2-40B4-BE49-F238E27FC236}">
                <a16:creationId xmlns:a16="http://schemas.microsoft.com/office/drawing/2014/main" id="{8A742F72-F6D8-4D56-9AA7-B44560F3EFFC}"/>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530D8C16-C4FE-4049-B69D-2426611115CB}"/>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C902257-DCD5-4B0B-A27E-2F98700908D7}"/>
              </a:ext>
            </a:extLst>
          </p:cNvPr>
          <p:cNvSpPr>
            <a:spLocks xmlns:a="http://schemas.openxmlformats.org/drawingml/2006/main" noGrp="1"/>
          </p:cNvSpPr>
          <p:nvPr/>
        </p:nvSpPr>
        <p:spPr>
          <a:xfrm xmlns:a="http://schemas.openxmlformats.org/drawingml/2006/main">
            <a:off x="5572125" y="3314700"/>
            <a:ext cx="4095750" cy="2057400"/>
          </a:xfrm>
          <a:prstGeom xmlns:a="http://schemas.openxmlformats.org/drawingml/2006/main" prst="ellipse">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775">
                <a:solidFill>
                  <a:srgbClr val="15334B"/>
                </a:solidFill>
                <a:latin typeface="Arial"/>
                <a:ea typeface="Arial"/>
                <a:cs typeface="Arial"/>
              </a:defRPr>
            </a:pPr>
            <a:r>
              <a:rPr sz="2775">
                <a:solidFill>
                  <a:srgbClr val="15334B"/>
                </a:solidFill>
                <a:latin typeface="Arial"/>
                <a:ea typeface="Arial"/>
                <a:cs typeface="Arial"/>
              </a:rPr>
              <a:t>0</a:t>
            </a:r>
          </a:p>
          <a:p xmlns:a="http://schemas.openxmlformats.org/drawingml/2006/main">
            <a:pPr algn="ctr">
              <a:defRPr sz="2775">
                <a:solidFill>
                  <a:srgbClr val="15334B"/>
                </a:solidFill>
                <a:latin typeface="Arial"/>
                <a:ea typeface="Arial"/>
                <a:cs typeface="Arial"/>
              </a:defRPr>
            </a:pPr>
            <a:r>
              <a:rPr sz="2775">
                <a:solidFill>
                  <a:srgbClr val="15334B"/>
                </a:solidFill>
                <a:latin typeface="Arial"/>
                <a:ea typeface="Arial"/>
                <a:cs typeface="Arial"/>
              </a:rPr>
              <a:t>RouteMind</a:t>
            </a:r>
          </a:p>
        </p:txBody>
      </p:sp>
      <p:sp>
        <p:nvSpPr>
          <p:cNvPr id="6" name="">
            <a:extLst xmlns:a="http://schemas.openxmlformats.org/drawingml/2006/main">
              <a:ext uri="{FF2B5EF4-FFF2-40B4-BE49-F238E27FC236}">
                <a16:creationId xmlns:a16="http://schemas.microsoft.com/office/drawing/2014/main" id="{0A9167D7-A14A-4534-B49C-D908EF54C2B5}"/>
              </a:ext>
            </a:extLst>
          </p:cNvPr>
          <p:cNvSpPr>
            <a:spLocks xmlns:a="http://schemas.openxmlformats.org/drawingml/2006/main" noGrp="1"/>
          </p:cNvSpPr>
          <p:nvPr/>
        </p:nvSpPr>
        <p:spPr>
          <a:xfrm xmlns:a="http://schemas.openxmlformats.org/drawingml/2006/main">
            <a:off x="619125" y="214312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Business / Admin</a:t>
            </a:r>
          </a:p>
        </p:txBody>
      </p:sp>
      <p:sp>
        <p:nvSpPr>
          <p:cNvPr id="7" name="">
            <a:extLst xmlns:a="http://schemas.openxmlformats.org/drawingml/2006/main">
              <a:ext uri="{FF2B5EF4-FFF2-40B4-BE49-F238E27FC236}">
                <a16:creationId xmlns:a16="http://schemas.microsoft.com/office/drawing/2014/main" id="{48AA02C5-4DCC-4D2A-8DD7-63700AFDDA66}"/>
              </a:ext>
            </a:extLst>
          </p:cNvPr>
          <p:cNvSpPr>
            <a:spLocks xmlns:a="http://schemas.openxmlformats.org/drawingml/2006/main" noGrp="1"/>
          </p:cNvSpPr>
          <p:nvPr/>
        </p:nvSpPr>
        <p:spPr>
          <a:xfrm xmlns:a="http://schemas.openxmlformats.org/drawingml/2006/main">
            <a:off x="619125" y="604837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Driver</a:t>
            </a:r>
          </a:p>
        </p:txBody>
      </p:sp>
      <p:sp>
        <p:nvSpPr>
          <p:cNvPr id="8" name="">
            <a:extLst xmlns:a="http://schemas.openxmlformats.org/drawingml/2006/main">
              <a:ext uri="{FF2B5EF4-FFF2-40B4-BE49-F238E27FC236}">
                <a16:creationId xmlns:a16="http://schemas.microsoft.com/office/drawing/2014/main" id="{A90C3C7F-DA39-4DD2-A98A-E5BBDA8CCA05}"/>
              </a:ext>
            </a:extLst>
          </p:cNvPr>
          <p:cNvSpPr>
            <a:spLocks xmlns:a="http://schemas.openxmlformats.org/drawingml/2006/main" noGrp="1"/>
          </p:cNvSpPr>
          <p:nvPr/>
        </p:nvSpPr>
        <p:spPr>
          <a:xfrm xmlns:a="http://schemas.openxmlformats.org/drawingml/2006/main">
            <a:off x="11620500" y="214312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75">
                <a:solidFill>
                  <a:srgbClr val="15334B"/>
                </a:solidFill>
                <a:latin typeface="Arial"/>
                <a:ea typeface="Arial"/>
                <a:cs typeface="Arial"/>
              </a:defRPr>
            </a:pPr>
            <a:r>
              <a:rPr sz="2175">
                <a:solidFill>
                  <a:srgbClr val="15334B"/>
                </a:solidFill>
                <a:latin typeface="Arial"/>
                <a:ea typeface="Arial"/>
                <a:cs typeface="Arial"/>
              </a:rPr>
              <a:t>Customer</a:t>
            </a:r>
          </a:p>
        </p:txBody>
      </p:sp>
      <p:sp>
        <p:nvSpPr>
          <p:cNvPr id="9" name="">
            <a:extLst xmlns:a="http://schemas.openxmlformats.org/drawingml/2006/main">
              <a:ext uri="{FF2B5EF4-FFF2-40B4-BE49-F238E27FC236}">
                <a16:creationId xmlns:a16="http://schemas.microsoft.com/office/drawing/2014/main" id="{B39EA75A-2D69-4A71-9B5F-3AB753643454}"/>
              </a:ext>
            </a:extLst>
          </p:cNvPr>
          <p:cNvSpPr>
            <a:spLocks xmlns:a="http://schemas.openxmlformats.org/drawingml/2006/main" noGrp="1"/>
          </p:cNvSpPr>
          <p:nvPr/>
        </p:nvSpPr>
        <p:spPr>
          <a:xfrm xmlns:a="http://schemas.openxmlformats.org/drawingml/2006/main">
            <a:off x="11620500" y="6048375"/>
            <a:ext cx="2952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025">
                <a:solidFill>
                  <a:srgbClr val="15334B"/>
                </a:solidFill>
                <a:latin typeface="Arial"/>
                <a:ea typeface="Arial"/>
                <a:cs typeface="Arial"/>
              </a:defRPr>
            </a:pPr>
            <a:r>
              <a:rPr sz="2025">
                <a:solidFill>
                  <a:srgbClr val="15334B"/>
                </a:solidFill>
                <a:latin typeface="Arial"/>
                <a:ea typeface="Arial"/>
                <a:cs typeface="Arial"/>
              </a:rPr>
              <a:t>Map / Routing API</a:t>
            </a:r>
          </a:p>
        </p:txBody>
      </p:sp>
      <p:sp>
        <p:nvSpPr>
          <p:cNvPr id="10" name="">
            <a:extLst xmlns:a="http://schemas.openxmlformats.org/drawingml/2006/main">
              <a:ext uri="{FF2B5EF4-FFF2-40B4-BE49-F238E27FC236}">
                <a16:creationId xmlns:a16="http://schemas.microsoft.com/office/drawing/2014/main" id="{59E93E64-6474-4390-AE7C-7895619DCBCC}"/>
              </a:ext>
            </a:extLst>
          </p:cNvPr>
          <p:cNvSpPr>
            <a:spLocks xmlns:a="http://schemas.openxmlformats.org/drawingml/2006/main" noGrp="1"/>
          </p:cNvSpPr>
          <p:nvPr/>
        </p:nvSpPr>
        <p:spPr>
          <a:xfrm xmlns:a="http://schemas.openxmlformats.org/drawingml/2006/main">
            <a:off x="3571875" y="2638425"/>
            <a:ext cx="953" cy="953"/>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60B9E3B-A649-44E5-A1FB-190A6F31888F}"/>
              </a:ext>
            </a:extLst>
          </p:cNvPr>
          <p:cNvSpPr>
            <a:spLocks xmlns:a="http://schemas.openxmlformats.org/drawingml/2006/main" noGrp="1"/>
          </p:cNvSpPr>
          <p:nvPr/>
        </p:nvSpPr>
        <p:spPr>
          <a:xfrm xmlns:a="http://schemas.openxmlformats.org/drawingml/2006/main">
            <a:off x="5934075" y="3562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4" name=""/>
          <p:cNvCxnSpPr>
            <a:stCxn xmlns:a="http://schemas.openxmlformats.org/drawingml/2006/main" id="10" idx="3"/>
            <a:endCxn xmlns:a="http://schemas.openxmlformats.org/drawingml/2006/main" id="11" idx="1"/>
          </p:cNvCxnSpPr>
          <p:nvPr/>
        </p:nvCxnSpPr>
        <p:spPr>
          <a:xfrm xmlns:a="http://schemas.openxmlformats.org/drawingml/2006/main">
            <a:off x="3572828" y="2638902"/>
            <a:ext cx="2361247"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3" name="">
            <a:extLst xmlns:a="http://schemas.openxmlformats.org/drawingml/2006/main">
              <a:ext uri="{FF2B5EF4-FFF2-40B4-BE49-F238E27FC236}">
                <a16:creationId xmlns:a16="http://schemas.microsoft.com/office/drawing/2014/main" id="{EE54E0DB-DCB6-4CB6-8803-9767AB2AAE6D}"/>
              </a:ext>
            </a:extLst>
          </p:cNvPr>
          <p:cNvSpPr>
            <a:spLocks xmlns:a="http://schemas.openxmlformats.org/drawingml/2006/main" noGrp="1"/>
          </p:cNvSpPr>
          <p:nvPr/>
        </p:nvSpPr>
        <p:spPr>
          <a:xfrm xmlns:a="http://schemas.openxmlformats.org/drawingml/2006/main">
            <a:off x="3857625" y="2124075"/>
            <a:ext cx="3524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Orders, fleet details,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constraints, report requests</a:t>
            </a:r>
          </a:p>
        </p:txBody>
      </p:sp>
      <p:sp>
        <p:nvSpPr>
          <p:cNvPr id="14" name="">
            <a:extLst xmlns:a="http://schemas.openxmlformats.org/drawingml/2006/main">
              <a:ext uri="{FF2B5EF4-FFF2-40B4-BE49-F238E27FC236}">
                <a16:creationId xmlns:a16="http://schemas.microsoft.com/office/drawing/2014/main" id="{55489207-A0C1-4473-B4ED-CF351D757B06}"/>
              </a:ext>
            </a:extLst>
          </p:cNvPr>
          <p:cNvSpPr>
            <a:spLocks xmlns:a="http://schemas.openxmlformats.org/drawingml/2006/main" noGrp="1"/>
          </p:cNvSpPr>
          <p:nvPr/>
        </p:nvSpPr>
        <p:spPr>
          <a:xfrm xmlns:a="http://schemas.openxmlformats.org/drawingml/2006/main">
            <a:off x="5638800" y="4057650"/>
            <a:ext cx="953" cy="953"/>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225E99A-1C8A-4EA8-9AB7-F1AD4D34A887}"/>
              </a:ext>
            </a:extLst>
          </p:cNvPr>
          <p:cNvSpPr>
            <a:spLocks xmlns:a="http://schemas.openxmlformats.org/drawingml/2006/main" noGrp="1"/>
          </p:cNvSpPr>
          <p:nvPr/>
        </p:nvSpPr>
        <p:spPr>
          <a:xfrm xmlns:a="http://schemas.openxmlformats.org/drawingml/2006/main">
            <a:off x="3571875" y="314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8" name=""/>
          <p:cNvCxnSpPr>
            <a:stCxn xmlns:a="http://schemas.openxmlformats.org/drawingml/2006/main" id="14" idx="3"/>
            <a:endCxn xmlns:a="http://schemas.openxmlformats.org/drawingml/2006/main" id="15" idx="1"/>
          </p:cNvCxnSpPr>
          <p:nvPr/>
        </p:nvCxnSpPr>
        <p:spPr>
          <a:xfrm xmlns:a="http://schemas.openxmlformats.org/drawingml/2006/main" flipH="1" flipV="1">
            <a:off x="3571875" y="3143727"/>
            <a:ext cx="2067878" cy="91440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7" name="">
            <a:extLst xmlns:a="http://schemas.openxmlformats.org/drawingml/2006/main">
              <a:ext uri="{FF2B5EF4-FFF2-40B4-BE49-F238E27FC236}">
                <a16:creationId xmlns:a16="http://schemas.microsoft.com/office/drawing/2014/main" id="{DC33020E-0531-49B5-9D9E-888D3F89DF71}"/>
              </a:ext>
            </a:extLst>
          </p:cNvPr>
          <p:cNvSpPr>
            <a:spLocks xmlns:a="http://schemas.openxmlformats.org/drawingml/2006/main" noGrp="1"/>
          </p:cNvSpPr>
          <p:nvPr/>
        </p:nvSpPr>
        <p:spPr>
          <a:xfrm xmlns:a="http://schemas.openxmlformats.org/drawingml/2006/main">
            <a:off x="619125" y="3581400"/>
            <a:ext cx="4143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Route plans, analytics,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exceptions</a:t>
            </a:r>
          </a:p>
        </p:txBody>
      </p:sp>
      <p:sp>
        <p:nvSpPr>
          <p:cNvPr id="18" name="">
            <a:extLst xmlns:a="http://schemas.openxmlformats.org/drawingml/2006/main">
              <a:ext uri="{FF2B5EF4-FFF2-40B4-BE49-F238E27FC236}">
                <a16:creationId xmlns:a16="http://schemas.microsoft.com/office/drawing/2014/main" id="{1DB9E227-A03D-4066-9B09-D1F7AD525F6C}"/>
              </a:ext>
            </a:extLst>
          </p:cNvPr>
          <p:cNvSpPr>
            <a:spLocks xmlns:a="http://schemas.openxmlformats.org/drawingml/2006/main" noGrp="1"/>
          </p:cNvSpPr>
          <p:nvPr/>
        </p:nvSpPr>
        <p:spPr>
          <a:xfrm xmlns:a="http://schemas.openxmlformats.org/drawingml/2006/main">
            <a:off x="3571875" y="6276975"/>
            <a:ext cx="953" cy="953"/>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1DDB755-638B-46B6-822A-170BA15D49CF}"/>
              </a:ext>
            </a:extLst>
          </p:cNvPr>
          <p:cNvSpPr>
            <a:spLocks xmlns:a="http://schemas.openxmlformats.org/drawingml/2006/main" noGrp="1"/>
          </p:cNvSpPr>
          <p:nvPr/>
        </p:nvSpPr>
        <p:spPr>
          <a:xfrm xmlns:a="http://schemas.openxmlformats.org/drawingml/2006/main">
            <a:off x="5876925" y="49911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8" idx="3"/>
            <a:endCxn xmlns:a="http://schemas.openxmlformats.org/drawingml/2006/main" id="19" idx="1"/>
          </p:cNvCxnSpPr>
          <p:nvPr/>
        </p:nvCxnSpPr>
        <p:spPr>
          <a:xfrm xmlns:a="http://schemas.openxmlformats.org/drawingml/2006/main" flipV="1">
            <a:off x="3572828" y="4991577"/>
            <a:ext cx="2304097" cy="1285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1" name="">
            <a:extLst xmlns:a="http://schemas.openxmlformats.org/drawingml/2006/main">
              <a:ext uri="{FF2B5EF4-FFF2-40B4-BE49-F238E27FC236}">
                <a16:creationId xmlns:a16="http://schemas.microsoft.com/office/drawing/2014/main" id="{0012E7F0-005A-4A30-BFF9-8F2ECB507B78}"/>
              </a:ext>
            </a:extLst>
          </p:cNvPr>
          <p:cNvSpPr>
            <a:spLocks xmlns:a="http://schemas.openxmlformats.org/drawingml/2006/main" noGrp="1"/>
          </p:cNvSpPr>
          <p:nvPr/>
        </p:nvSpPr>
        <p:spPr>
          <a:xfrm xmlns:a="http://schemas.openxmlformats.org/drawingml/2006/main">
            <a:off x="619125" y="50958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status,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current location</a:t>
            </a:r>
          </a:p>
        </p:txBody>
      </p:sp>
      <p:sp>
        <p:nvSpPr>
          <p:cNvPr id="22" name="">
            <a:extLst xmlns:a="http://schemas.openxmlformats.org/drawingml/2006/main">
              <a:ext uri="{FF2B5EF4-FFF2-40B4-BE49-F238E27FC236}">
                <a16:creationId xmlns:a16="http://schemas.microsoft.com/office/drawing/2014/main" id="{C0C95DC9-A69E-4028-850D-A6C9BD75CD89}"/>
              </a:ext>
            </a:extLst>
          </p:cNvPr>
          <p:cNvSpPr>
            <a:spLocks xmlns:a="http://schemas.openxmlformats.org/drawingml/2006/main" noGrp="1"/>
          </p:cNvSpPr>
          <p:nvPr/>
        </p:nvSpPr>
        <p:spPr>
          <a:xfrm xmlns:a="http://schemas.openxmlformats.org/drawingml/2006/main">
            <a:off x="6572250" y="5353050"/>
            <a:ext cx="953" cy="953"/>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4E38511-D533-49A1-8399-56E8742BD142}"/>
              </a:ext>
            </a:extLst>
          </p:cNvPr>
          <p:cNvSpPr>
            <a:spLocks xmlns:a="http://schemas.openxmlformats.org/drawingml/2006/main" noGrp="1"/>
          </p:cNvSpPr>
          <p:nvPr/>
        </p:nvSpPr>
        <p:spPr>
          <a:xfrm xmlns:a="http://schemas.openxmlformats.org/drawingml/2006/main">
            <a:off x="3571875" y="6886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2" idx="3"/>
            <a:endCxn xmlns:a="http://schemas.openxmlformats.org/drawingml/2006/main" id="23" idx="1"/>
          </p:cNvCxnSpPr>
          <p:nvPr/>
        </p:nvCxnSpPr>
        <p:spPr>
          <a:xfrm xmlns:a="http://schemas.openxmlformats.org/drawingml/2006/main" flipH="1">
            <a:off x="3571875" y="5353527"/>
            <a:ext cx="3001328" cy="15335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5" name="">
            <a:extLst xmlns:a="http://schemas.openxmlformats.org/drawingml/2006/main">
              <a:ext uri="{FF2B5EF4-FFF2-40B4-BE49-F238E27FC236}">
                <a16:creationId xmlns:a16="http://schemas.microsoft.com/office/drawing/2014/main" id="{C6E62CF3-2DDC-459F-A3B9-7776ECCF3A04}"/>
              </a:ext>
            </a:extLst>
          </p:cNvPr>
          <p:cNvSpPr>
            <a:spLocks xmlns:a="http://schemas.openxmlformats.org/drawingml/2006/main" noGrp="1"/>
          </p:cNvSpPr>
          <p:nvPr/>
        </p:nvSpPr>
        <p:spPr>
          <a:xfrm xmlns:a="http://schemas.openxmlformats.org/drawingml/2006/main">
            <a:off x="4238625" y="66294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Assigned route,</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route updates</a:t>
            </a:r>
          </a:p>
        </p:txBody>
      </p:sp>
      <p:sp>
        <p:nvSpPr>
          <p:cNvPr id="26" name="">
            <a:extLst xmlns:a="http://schemas.openxmlformats.org/drawingml/2006/main">
              <a:ext uri="{FF2B5EF4-FFF2-40B4-BE49-F238E27FC236}">
                <a16:creationId xmlns:a16="http://schemas.microsoft.com/office/drawing/2014/main" id="{6D6A22D1-C6DD-4D60-917D-BC760B54F303}"/>
              </a:ext>
            </a:extLst>
          </p:cNvPr>
          <p:cNvSpPr>
            <a:spLocks xmlns:a="http://schemas.openxmlformats.org/drawingml/2006/main" noGrp="1"/>
          </p:cNvSpPr>
          <p:nvPr/>
        </p:nvSpPr>
        <p:spPr>
          <a:xfrm xmlns:a="http://schemas.openxmlformats.org/drawingml/2006/main">
            <a:off x="11620500" y="2600325"/>
            <a:ext cx="953" cy="953"/>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5059086-BDDB-4105-9719-EC094C45D8A0}"/>
              </a:ext>
            </a:extLst>
          </p:cNvPr>
          <p:cNvSpPr>
            <a:spLocks xmlns:a="http://schemas.openxmlformats.org/drawingml/2006/main" noGrp="1"/>
          </p:cNvSpPr>
          <p:nvPr/>
        </p:nvSpPr>
        <p:spPr>
          <a:xfrm xmlns:a="http://schemas.openxmlformats.org/drawingml/2006/main">
            <a:off x="9391650" y="3638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6" idx="3"/>
            <a:endCxn xmlns:a="http://schemas.openxmlformats.org/drawingml/2006/main" id="27" idx="1"/>
          </p:cNvCxnSpPr>
          <p:nvPr/>
        </p:nvCxnSpPr>
        <p:spPr>
          <a:xfrm xmlns:a="http://schemas.openxmlformats.org/drawingml/2006/main" flipH="1">
            <a:off x="9391650" y="2600802"/>
            <a:ext cx="2229803" cy="10382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9" name="">
            <a:extLst xmlns:a="http://schemas.openxmlformats.org/drawingml/2006/main">
              <a:ext uri="{FF2B5EF4-FFF2-40B4-BE49-F238E27FC236}">
                <a16:creationId xmlns:a16="http://schemas.microsoft.com/office/drawing/2014/main" id="{52D93E61-927F-49DC-B9DF-8E3697D133A7}"/>
              </a:ext>
            </a:extLst>
          </p:cNvPr>
          <p:cNvSpPr>
            <a:spLocks xmlns:a="http://schemas.openxmlformats.org/drawingml/2006/main" noGrp="1"/>
          </p:cNvSpPr>
          <p:nvPr/>
        </p:nvSpPr>
        <p:spPr>
          <a:xfrm xmlns:a="http://schemas.openxmlformats.org/drawingml/2006/main">
            <a:off x="8572500" y="2076450"/>
            <a:ext cx="300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preferences,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address corrections</a:t>
            </a:r>
          </a:p>
        </p:txBody>
      </p:sp>
      <p:sp>
        <p:nvSpPr>
          <p:cNvPr id="30" name="">
            <a:extLst xmlns:a="http://schemas.openxmlformats.org/drawingml/2006/main">
              <a:ext uri="{FF2B5EF4-FFF2-40B4-BE49-F238E27FC236}">
                <a16:creationId xmlns:a16="http://schemas.microsoft.com/office/drawing/2014/main" id="{C5042D91-2693-4345-A94B-8936622FA4CA}"/>
              </a:ext>
            </a:extLst>
          </p:cNvPr>
          <p:cNvSpPr>
            <a:spLocks xmlns:a="http://schemas.openxmlformats.org/drawingml/2006/main" noGrp="1"/>
          </p:cNvSpPr>
          <p:nvPr/>
        </p:nvSpPr>
        <p:spPr>
          <a:xfrm xmlns:a="http://schemas.openxmlformats.org/drawingml/2006/main">
            <a:off x="9629775" y="4133850"/>
            <a:ext cx="953" cy="953"/>
          </a:xfrm>
          <a:prstGeom xmlns:a="http://schemas.openxmlformats.org/drawingml/2006/main" prst="rect">
            <a:avLst/>
          </a:prstGeom>
          <a:noFill xmlns:a="http://schemas.openxmlformats.org/drawingml/2006/main"/>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BE6BDBA-5530-4D87-84B5-12AF4992A10E}"/>
              </a:ext>
            </a:extLst>
          </p:cNvPr>
          <p:cNvSpPr>
            <a:spLocks xmlns:a="http://schemas.openxmlformats.org/drawingml/2006/main" noGrp="1"/>
          </p:cNvSpPr>
          <p:nvPr/>
        </p:nvSpPr>
        <p:spPr>
          <a:xfrm xmlns:a="http://schemas.openxmlformats.org/drawingml/2006/main">
            <a:off x="11620500" y="314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4" name=""/>
          <p:cNvCxnSpPr>
            <a:stCxn xmlns:a="http://schemas.openxmlformats.org/drawingml/2006/main" id="30" idx="3"/>
            <a:endCxn xmlns:a="http://schemas.openxmlformats.org/drawingml/2006/main" id="31" idx="1"/>
          </p:cNvCxnSpPr>
          <p:nvPr/>
        </p:nvCxnSpPr>
        <p:spPr>
          <a:xfrm xmlns:a="http://schemas.openxmlformats.org/drawingml/2006/main" flipV="1">
            <a:off x="9630728" y="3143727"/>
            <a:ext cx="1989772" cy="99060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3" name="">
            <a:extLst xmlns:a="http://schemas.openxmlformats.org/drawingml/2006/main">
              <a:ext uri="{FF2B5EF4-FFF2-40B4-BE49-F238E27FC236}">
                <a16:creationId xmlns:a16="http://schemas.microsoft.com/office/drawing/2014/main" id="{FBBD7E41-BCCD-43F1-8D2E-4C3161EB3C8E}"/>
              </a:ext>
            </a:extLst>
          </p:cNvPr>
          <p:cNvSpPr>
            <a:spLocks xmlns:a="http://schemas.openxmlformats.org/drawingml/2006/main" noGrp="1"/>
          </p:cNvSpPr>
          <p:nvPr/>
        </p:nvSpPr>
        <p:spPr>
          <a:xfrm xmlns:a="http://schemas.openxmlformats.org/drawingml/2006/main">
            <a:off x="11144250" y="3667125"/>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Estimated arrival,</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delivery status</a:t>
            </a:r>
          </a:p>
        </p:txBody>
      </p:sp>
      <p:sp>
        <p:nvSpPr>
          <p:cNvPr id="34" name="">
            <a:extLst xmlns:a="http://schemas.openxmlformats.org/drawingml/2006/main">
              <a:ext uri="{FF2B5EF4-FFF2-40B4-BE49-F238E27FC236}">
                <a16:creationId xmlns:a16="http://schemas.microsoft.com/office/drawing/2014/main" id="{F3F304F4-E750-4EC1-87E9-3A42665144C3}"/>
              </a:ext>
            </a:extLst>
          </p:cNvPr>
          <p:cNvSpPr>
            <a:spLocks xmlns:a="http://schemas.openxmlformats.org/drawingml/2006/main" noGrp="1"/>
          </p:cNvSpPr>
          <p:nvPr/>
        </p:nvSpPr>
        <p:spPr>
          <a:xfrm xmlns:a="http://schemas.openxmlformats.org/drawingml/2006/main">
            <a:off x="9553575" y="4724400"/>
            <a:ext cx="953" cy="953"/>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D56FD32-5278-4B6E-B9A9-E9B2A72061FF}"/>
              </a:ext>
            </a:extLst>
          </p:cNvPr>
          <p:cNvSpPr>
            <a:spLocks xmlns:a="http://schemas.openxmlformats.org/drawingml/2006/main" noGrp="1"/>
          </p:cNvSpPr>
          <p:nvPr/>
        </p:nvSpPr>
        <p:spPr>
          <a:xfrm xmlns:a="http://schemas.openxmlformats.org/drawingml/2006/main">
            <a:off x="11620500" y="62579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34" idx="3"/>
            <a:endCxn xmlns:a="http://schemas.openxmlformats.org/drawingml/2006/main" id="35" idx="1"/>
          </p:cNvCxnSpPr>
          <p:nvPr/>
        </p:nvCxnSpPr>
        <p:spPr>
          <a:xfrm xmlns:a="http://schemas.openxmlformats.org/drawingml/2006/main">
            <a:off x="9554528" y="4724877"/>
            <a:ext cx="2065972" cy="15335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7" name="">
            <a:extLst xmlns:a="http://schemas.openxmlformats.org/drawingml/2006/main">
              <a:ext uri="{FF2B5EF4-FFF2-40B4-BE49-F238E27FC236}">
                <a16:creationId xmlns:a16="http://schemas.microsoft.com/office/drawing/2014/main" id="{CC7A2D6C-A10E-4D21-BC49-19F0E7340B98}"/>
              </a:ext>
            </a:extLst>
          </p:cNvPr>
          <p:cNvSpPr>
            <a:spLocks xmlns:a="http://schemas.openxmlformats.org/drawingml/2006/main" noGrp="1"/>
          </p:cNvSpPr>
          <p:nvPr/>
        </p:nvSpPr>
        <p:spPr>
          <a:xfrm xmlns:a="http://schemas.openxmlformats.org/drawingml/2006/main">
            <a:off x="11163300" y="49625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Coordinates,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distance / route request</a:t>
            </a:r>
          </a:p>
        </p:txBody>
      </p:sp>
      <p:sp>
        <p:nvSpPr>
          <p:cNvPr id="38" name="">
            <a:extLst xmlns:a="http://schemas.openxmlformats.org/drawingml/2006/main">
              <a:ext uri="{FF2B5EF4-FFF2-40B4-BE49-F238E27FC236}">
                <a16:creationId xmlns:a16="http://schemas.microsoft.com/office/drawing/2014/main" id="{A535859B-1132-4CB5-92F0-B358A21326D3}"/>
              </a:ext>
            </a:extLst>
          </p:cNvPr>
          <p:cNvSpPr>
            <a:spLocks xmlns:a="http://schemas.openxmlformats.org/drawingml/2006/main" noGrp="1"/>
          </p:cNvSpPr>
          <p:nvPr/>
        </p:nvSpPr>
        <p:spPr>
          <a:xfrm xmlns:a="http://schemas.openxmlformats.org/drawingml/2006/main">
            <a:off x="11620500" y="6829425"/>
            <a:ext cx="953" cy="953"/>
          </a:xfrm>
          <a:prstGeom xmlns:a="http://schemas.openxmlformats.org/drawingml/2006/main" prst="rect">
            <a:avLst/>
          </a:prstGeom>
          <a:noFill xmlns:a="http://schemas.openxmlformats.org/drawingml/2006/main"/>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8AEEF39-DD8E-47AE-A827-569C3458AC7A}"/>
              </a:ext>
            </a:extLst>
          </p:cNvPr>
          <p:cNvSpPr>
            <a:spLocks xmlns:a="http://schemas.openxmlformats.org/drawingml/2006/main" noGrp="1"/>
          </p:cNvSpPr>
          <p:nvPr/>
        </p:nvSpPr>
        <p:spPr>
          <a:xfrm xmlns:a="http://schemas.openxmlformats.org/drawingml/2006/main">
            <a:off x="9163050" y="5276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8" idx="3"/>
            <a:endCxn xmlns:a="http://schemas.openxmlformats.org/drawingml/2006/main" id="39" idx="1"/>
          </p:cNvCxnSpPr>
          <p:nvPr/>
        </p:nvCxnSpPr>
        <p:spPr>
          <a:xfrm xmlns:a="http://schemas.openxmlformats.org/drawingml/2006/main" flipH="1" flipV="1">
            <a:off x="9163050" y="5277327"/>
            <a:ext cx="2458403" cy="15525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1" name="">
            <a:extLst xmlns:a="http://schemas.openxmlformats.org/drawingml/2006/main">
              <a:ext uri="{FF2B5EF4-FFF2-40B4-BE49-F238E27FC236}">
                <a16:creationId xmlns:a16="http://schemas.microsoft.com/office/drawing/2014/main" id="{B18317F8-BE19-4BAA-91B2-46471AECF6C2}"/>
              </a:ext>
            </a:extLst>
          </p:cNvPr>
          <p:cNvSpPr>
            <a:spLocks xmlns:a="http://schemas.openxmlformats.org/drawingml/2006/main" noGrp="1"/>
          </p:cNvSpPr>
          <p:nvPr/>
        </p:nvSpPr>
        <p:spPr>
          <a:xfrm xmlns:a="http://schemas.openxmlformats.org/drawingml/2006/main">
            <a:off x="8172450" y="6677025"/>
            <a:ext cx="3667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Locations, distances,</a:t>
            </a:r>
          </a:p>
          <a:p xmlns:a="http://schemas.openxmlformats.org/drawingml/2006/main">
            <a:pPr algn="l">
              <a:defRPr sz="1650" b="0">
                <a:solidFill>
                  <a:srgbClr val="15334B"/>
                </a:solidFill>
                <a:latin typeface="Arial"/>
                <a:ea typeface="Arial"/>
                <a:cs typeface="Arial"/>
              </a:defRPr>
            </a:pPr>
            <a:r>
              <a:rPr sz="1650" b="0">
                <a:solidFill>
                  <a:srgbClr val="15334B"/>
                </a:solidFill>
                <a:latin typeface="Arial"/>
                <a:ea typeface="Arial"/>
                <a:cs typeface="Arial"/>
              </a:rPr>
              <a:t>estimated travel times</a:t>
            </a:r>
          </a:p>
        </p:txBody>
      </p:sp>
      <p:sp>
        <p:nvSpPr>
          <p:cNvPr id="42" name="">
            <a:extLst xmlns:a="http://schemas.openxmlformats.org/drawingml/2006/main">
              <a:ext uri="{FF2B5EF4-FFF2-40B4-BE49-F238E27FC236}">
                <a16:creationId xmlns:a16="http://schemas.microsoft.com/office/drawing/2014/main" id="{722FF3E0-7A48-4944-9EB6-043CB5CA7B8F}"/>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Arrows represent information exchanged. The system’s internal modules are shown on the next slide.</a:t>
            </a:r>
          </a:p>
        </p:txBody>
      </p:sp>
    </p:spTree>
    <p:extLst>
      <p:ext uri="{BB962C8B-B14F-4D97-AF65-F5344CB8AC3E}">
        <p14:creationId xmlns:p14="http://schemas.microsoft.com/office/powerpoint/2010/main" val="1491834465"/>
      </p:ext>
    </p:extLst>
  </p:cSld>
</p:sld>
</file>

<file path=ppt/slides/slide4.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129" name="">
            <a:extLst xmlns:a="http://schemas.openxmlformats.org/drawingml/2006/main">
              <a:ext uri="{FF2B5EF4-FFF2-40B4-BE49-F238E27FC236}">
                <a16:creationId xmlns:a16="http://schemas.microsoft.com/office/drawing/2014/main" id="{0D504810-55B3-40E8-8657-87AEC6264F42}"/>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1: six connected modules</a:t>
            </a:r>
          </a:p>
        </p:txBody>
      </p:sp>
      <p:sp>
        <p:nvSpPr>
          <p:cNvPr id="2" name="">
            <a:extLst xmlns:a="http://schemas.openxmlformats.org/drawingml/2006/main">
              <a:ext uri="{FF2B5EF4-FFF2-40B4-BE49-F238E27FC236}">
                <a16:creationId xmlns:a16="http://schemas.microsoft.com/office/drawing/2014/main" id="{EFC758B5-A4F6-4F25-BC4F-CDED44F0230A}"/>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The stores preserve operational data and the results of every optimization run.</a:t>
            </a:r>
          </a:p>
        </p:txBody>
      </p:sp>
      <p:sp>
        <p:nvSpPr>
          <p:cNvPr id="3" name="">
            <a:extLst xmlns:a="http://schemas.openxmlformats.org/drawingml/2006/main">
              <a:ext uri="{FF2B5EF4-FFF2-40B4-BE49-F238E27FC236}">
                <a16:creationId xmlns:a16="http://schemas.microsoft.com/office/drawing/2014/main" id="{6176A0EC-2745-4B20-8458-D07522E4F187}"/>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15FE60E8-8173-4BED-AD0C-27874AA40A71}"/>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9020F11-D51B-474B-B066-16FF83B6E5DC}"/>
              </a:ext>
            </a:extLst>
          </p:cNvPr>
          <p:cNvSpPr>
            <a:spLocks xmlns:a="http://schemas.openxmlformats.org/drawingml/2006/main" noGrp="1"/>
          </p:cNvSpPr>
          <p:nvPr/>
        </p:nvSpPr>
        <p:spPr>
          <a:xfrm xmlns:a="http://schemas.openxmlformats.org/drawingml/2006/main">
            <a:off x="619125" y="17526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EXTERNAL DATA</a:t>
            </a:r>
          </a:p>
        </p:txBody>
      </p:sp>
      <p:sp>
        <p:nvSpPr>
          <p:cNvPr id="6" name="">
            <a:extLst xmlns:a="http://schemas.openxmlformats.org/drawingml/2006/main">
              <a:ext uri="{FF2B5EF4-FFF2-40B4-BE49-F238E27FC236}">
                <a16:creationId xmlns:a16="http://schemas.microsoft.com/office/drawing/2014/main" id="{11D8097F-C832-4FBC-85C7-6E6AA0B0537F}"/>
              </a:ext>
            </a:extLst>
          </p:cNvPr>
          <p:cNvSpPr>
            <a:spLocks xmlns:a="http://schemas.openxmlformats.org/drawingml/2006/main" noGrp="1"/>
          </p:cNvSpPr>
          <p:nvPr/>
        </p:nvSpPr>
        <p:spPr>
          <a:xfrm xmlns:a="http://schemas.openxmlformats.org/drawingml/2006/main">
            <a:off x="5686425" y="17526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PROCESS</a:t>
            </a:r>
          </a:p>
        </p:txBody>
      </p:sp>
      <p:sp>
        <p:nvSpPr>
          <p:cNvPr id="7" name="">
            <a:extLst xmlns:a="http://schemas.openxmlformats.org/drawingml/2006/main">
              <a:ext uri="{FF2B5EF4-FFF2-40B4-BE49-F238E27FC236}">
                <a16:creationId xmlns:a16="http://schemas.microsoft.com/office/drawing/2014/main" id="{8BC2FFB1-5B18-4637-93B4-DAEF04601940}"/>
              </a:ext>
            </a:extLst>
          </p:cNvPr>
          <p:cNvSpPr>
            <a:spLocks xmlns:a="http://schemas.openxmlformats.org/drawingml/2006/main" noGrp="1"/>
          </p:cNvSpPr>
          <p:nvPr/>
        </p:nvSpPr>
        <p:spPr>
          <a:xfrm xmlns:a="http://schemas.openxmlformats.org/drawingml/2006/main">
            <a:off x="11334750" y="17526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526E80"/>
                </a:solidFill>
                <a:latin typeface="Arial"/>
                <a:ea typeface="Arial"/>
                <a:cs typeface="Arial"/>
              </a:defRPr>
            </a:pPr>
            <a:r>
              <a:rPr sz="1425" b="1">
                <a:solidFill>
                  <a:srgbClr val="526E80"/>
                </a:solidFill>
                <a:latin typeface="Arial"/>
                <a:ea typeface="Arial"/>
                <a:cs typeface="Arial"/>
              </a:rPr>
              <a:t>PRIMARY DATA STORES</a:t>
            </a:r>
          </a:p>
        </p:txBody>
      </p:sp>
      <p:sp>
        <p:nvSpPr>
          <p:cNvPr id="8" name="">
            <a:extLst xmlns:a="http://schemas.openxmlformats.org/drawingml/2006/main">
              <a:ext uri="{FF2B5EF4-FFF2-40B4-BE49-F238E27FC236}">
                <a16:creationId xmlns:a16="http://schemas.microsoft.com/office/drawing/2014/main" id="{E95F9E55-2D4A-4369-A95F-93904F496861}"/>
              </a:ext>
            </a:extLst>
          </p:cNvPr>
          <p:cNvSpPr>
            <a:spLocks xmlns:a="http://schemas.openxmlformats.org/drawingml/2006/main" noGrp="1"/>
          </p:cNvSpPr>
          <p:nvPr/>
        </p:nvSpPr>
        <p:spPr>
          <a:xfrm xmlns:a="http://schemas.openxmlformats.org/drawingml/2006/main">
            <a:off x="619125" y="225742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Customer</a:t>
            </a:r>
          </a:p>
        </p:txBody>
      </p:sp>
      <p:sp>
        <p:nvSpPr>
          <p:cNvPr id="9" name="">
            <a:extLst xmlns:a="http://schemas.openxmlformats.org/drawingml/2006/main">
              <a:ext uri="{FF2B5EF4-FFF2-40B4-BE49-F238E27FC236}">
                <a16:creationId xmlns:a16="http://schemas.microsoft.com/office/drawing/2014/main" id="{7A9DD056-9CC4-426F-9AB5-500645E0B9F7}"/>
              </a:ext>
            </a:extLst>
          </p:cNvPr>
          <p:cNvSpPr>
            <a:spLocks xmlns:a="http://schemas.openxmlformats.org/drawingml/2006/main" noGrp="1"/>
          </p:cNvSpPr>
          <p:nvPr/>
        </p:nvSpPr>
        <p:spPr>
          <a:xfrm xmlns:a="http://schemas.openxmlformats.org/drawingml/2006/main">
            <a:off x="5781675" y="225742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1  Manage Orders</a:t>
            </a:r>
          </a:p>
        </p:txBody>
      </p:sp>
      <p:sp>
        <p:nvSpPr>
          <p:cNvPr id="10" name="">
            <a:extLst xmlns:a="http://schemas.openxmlformats.org/drawingml/2006/main">
              <a:ext uri="{FF2B5EF4-FFF2-40B4-BE49-F238E27FC236}">
                <a16:creationId xmlns:a16="http://schemas.microsoft.com/office/drawing/2014/main" id="{52F0ED11-D01E-4C51-9403-A2780BCFED6F}"/>
              </a:ext>
            </a:extLst>
          </p:cNvPr>
          <p:cNvSpPr>
            <a:spLocks xmlns:a="http://schemas.openxmlformats.org/drawingml/2006/main" noGrp="1"/>
          </p:cNvSpPr>
          <p:nvPr/>
        </p:nvSpPr>
        <p:spPr>
          <a:xfrm xmlns:a="http://schemas.openxmlformats.org/drawingml/2006/main">
            <a:off x="11782425" y="225742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a:t>
            </a:r>
          </a:p>
        </p:txBody>
      </p:sp>
      <p:sp>
        <p:nvSpPr>
          <p:cNvPr id="11" name="">
            <a:extLst xmlns:a="http://schemas.openxmlformats.org/drawingml/2006/main">
              <a:ext uri="{FF2B5EF4-FFF2-40B4-BE49-F238E27FC236}">
                <a16:creationId xmlns:a16="http://schemas.microsoft.com/office/drawing/2014/main" id="{42CF0903-83A1-42E0-8A85-8857BDC8C657}"/>
              </a:ext>
            </a:extLst>
          </p:cNvPr>
          <p:cNvSpPr>
            <a:spLocks xmlns:a="http://schemas.openxmlformats.org/drawingml/2006/main" noGrp="1"/>
          </p:cNvSpPr>
          <p:nvPr/>
        </p:nvSpPr>
        <p:spPr>
          <a:xfrm xmlns:a="http://schemas.openxmlformats.org/drawingml/2006/main" flipV="0">
            <a:off x="11944350" y="225742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2" name="">
            <a:extLst xmlns:a="http://schemas.openxmlformats.org/drawingml/2006/main">
              <a:ext uri="{FF2B5EF4-FFF2-40B4-BE49-F238E27FC236}">
                <a16:creationId xmlns:a16="http://schemas.microsoft.com/office/drawing/2014/main" id="{53FF81AD-3C05-41FB-AF44-5A1735940EA8}"/>
              </a:ext>
            </a:extLst>
          </p:cNvPr>
          <p:cNvSpPr>
            <a:spLocks xmlns:a="http://schemas.openxmlformats.org/drawingml/2006/main" noGrp="1"/>
          </p:cNvSpPr>
          <p:nvPr/>
        </p:nvSpPr>
        <p:spPr>
          <a:xfrm xmlns:a="http://schemas.openxmlformats.org/drawingml/2006/main">
            <a:off x="3286125" y="2409825"/>
            <a:ext cx="953" cy="953"/>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FA5F08-4987-4299-9A2D-D9C8743B07B7}"/>
              </a:ext>
            </a:extLst>
          </p:cNvPr>
          <p:cNvSpPr>
            <a:spLocks xmlns:a="http://schemas.openxmlformats.org/drawingml/2006/main" noGrp="1"/>
          </p:cNvSpPr>
          <p:nvPr/>
        </p:nvSpPr>
        <p:spPr>
          <a:xfrm xmlns:a="http://schemas.openxmlformats.org/drawingml/2006/main">
            <a:off x="5781675" y="24098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2" name=""/>
          <p:cNvCxnSpPr>
            <a:stCxn xmlns:a="http://schemas.openxmlformats.org/drawingml/2006/main" id="12" idx="3"/>
            <a:endCxn xmlns:a="http://schemas.openxmlformats.org/drawingml/2006/main" id="13" idx="1"/>
          </p:cNvCxnSpPr>
          <p:nvPr/>
        </p:nvCxnSpPr>
        <p:spPr>
          <a:xfrm xmlns:a="http://schemas.openxmlformats.org/drawingml/2006/main">
            <a:off x="3287078" y="241030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5" name="">
            <a:extLst xmlns:a="http://schemas.openxmlformats.org/drawingml/2006/main">
              <a:ext uri="{FF2B5EF4-FFF2-40B4-BE49-F238E27FC236}">
                <a16:creationId xmlns:a16="http://schemas.microsoft.com/office/drawing/2014/main" id="{20DB3271-BE8C-4323-871A-0EA3011FE3CD}"/>
              </a:ext>
            </a:extLst>
          </p:cNvPr>
          <p:cNvSpPr>
            <a:spLocks xmlns:a="http://schemas.openxmlformats.org/drawingml/2006/main" noGrp="1"/>
          </p:cNvSpPr>
          <p:nvPr/>
        </p:nvSpPr>
        <p:spPr>
          <a:xfrm xmlns:a="http://schemas.openxmlformats.org/drawingml/2006/main">
            <a:off x="3371850" y="214312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Orders / preferences</a:t>
            </a:r>
          </a:p>
        </p:txBody>
      </p:sp>
      <p:sp>
        <p:nvSpPr>
          <p:cNvPr id="16" name="">
            <a:extLst xmlns:a="http://schemas.openxmlformats.org/drawingml/2006/main">
              <a:ext uri="{FF2B5EF4-FFF2-40B4-BE49-F238E27FC236}">
                <a16:creationId xmlns:a16="http://schemas.microsoft.com/office/drawing/2014/main" id="{4F0071BD-BF8E-4381-A39E-9AA723B329D8}"/>
              </a:ext>
            </a:extLst>
          </p:cNvPr>
          <p:cNvSpPr>
            <a:spLocks xmlns:a="http://schemas.openxmlformats.org/drawingml/2006/main" noGrp="1"/>
          </p:cNvSpPr>
          <p:nvPr/>
        </p:nvSpPr>
        <p:spPr>
          <a:xfrm xmlns:a="http://schemas.openxmlformats.org/drawingml/2006/main">
            <a:off x="5781675" y="2714625"/>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4CD88AE-92F3-4FB9-9940-E8F4F0BBE0C0}"/>
              </a:ext>
            </a:extLst>
          </p:cNvPr>
          <p:cNvSpPr>
            <a:spLocks xmlns:a="http://schemas.openxmlformats.org/drawingml/2006/main" noGrp="1"/>
          </p:cNvSpPr>
          <p:nvPr/>
        </p:nvSpPr>
        <p:spPr>
          <a:xfrm xmlns:a="http://schemas.openxmlformats.org/drawingml/2006/main">
            <a:off x="3286125" y="2714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6" name=""/>
          <p:cNvCxnSpPr>
            <a:stCxn xmlns:a="http://schemas.openxmlformats.org/drawingml/2006/main" id="16" idx="3"/>
            <a:endCxn xmlns:a="http://schemas.openxmlformats.org/drawingml/2006/main" id="17" idx="1"/>
          </p:cNvCxnSpPr>
          <p:nvPr/>
        </p:nvCxnSpPr>
        <p:spPr>
          <a:xfrm xmlns:a="http://schemas.openxmlformats.org/drawingml/2006/main" flipH="1">
            <a:off x="3286125" y="271510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9" name="">
            <a:extLst xmlns:a="http://schemas.openxmlformats.org/drawingml/2006/main">
              <a:ext uri="{FF2B5EF4-FFF2-40B4-BE49-F238E27FC236}">
                <a16:creationId xmlns:a16="http://schemas.microsoft.com/office/drawing/2014/main" id="{FF0E2328-2FFC-4E43-8518-725C581F9117}"/>
              </a:ext>
            </a:extLst>
          </p:cNvPr>
          <p:cNvSpPr>
            <a:spLocks xmlns:a="http://schemas.openxmlformats.org/drawingml/2006/main" noGrp="1"/>
          </p:cNvSpPr>
          <p:nvPr/>
        </p:nvSpPr>
        <p:spPr>
          <a:xfrm xmlns:a="http://schemas.openxmlformats.org/drawingml/2006/main">
            <a:off x="3352800" y="27241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Order details / exceptions</a:t>
            </a:r>
          </a:p>
        </p:txBody>
      </p:sp>
      <p:sp>
        <p:nvSpPr>
          <p:cNvPr id="20" name="">
            <a:extLst xmlns:a="http://schemas.openxmlformats.org/drawingml/2006/main">
              <a:ext uri="{FF2B5EF4-FFF2-40B4-BE49-F238E27FC236}">
                <a16:creationId xmlns:a16="http://schemas.microsoft.com/office/drawing/2014/main" id="{59BFB7F6-CF09-4F77-A546-4605928F4B96}"/>
              </a:ext>
            </a:extLst>
          </p:cNvPr>
          <p:cNvSpPr>
            <a:spLocks xmlns:a="http://schemas.openxmlformats.org/drawingml/2006/main" noGrp="1"/>
          </p:cNvSpPr>
          <p:nvPr/>
        </p:nvSpPr>
        <p:spPr>
          <a:xfrm xmlns:a="http://schemas.openxmlformats.org/drawingml/2006/main">
            <a:off x="9401175" y="2409825"/>
            <a:ext cx="953" cy="953"/>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3EDC4FB-95D6-4047-8EDA-CDF0343E19C9}"/>
              </a:ext>
            </a:extLst>
          </p:cNvPr>
          <p:cNvSpPr>
            <a:spLocks xmlns:a="http://schemas.openxmlformats.org/drawingml/2006/main" noGrp="1"/>
          </p:cNvSpPr>
          <p:nvPr/>
        </p:nvSpPr>
        <p:spPr>
          <a:xfrm xmlns:a="http://schemas.openxmlformats.org/drawingml/2006/main">
            <a:off x="11782425" y="24098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0" name=""/>
          <p:cNvCxnSpPr>
            <a:stCxn xmlns:a="http://schemas.openxmlformats.org/drawingml/2006/main" id="20" idx="3"/>
            <a:endCxn xmlns:a="http://schemas.openxmlformats.org/drawingml/2006/main" id="21" idx="1"/>
          </p:cNvCxnSpPr>
          <p:nvPr/>
        </p:nvCxnSpPr>
        <p:spPr>
          <a:xfrm xmlns:a="http://schemas.openxmlformats.org/drawingml/2006/main">
            <a:off x="9402128" y="2410302"/>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3" name="">
            <a:extLst xmlns:a="http://schemas.openxmlformats.org/drawingml/2006/main">
              <a:ext uri="{FF2B5EF4-FFF2-40B4-BE49-F238E27FC236}">
                <a16:creationId xmlns:a16="http://schemas.microsoft.com/office/drawing/2014/main" id="{A84D5CAA-DA30-438F-AC42-854A5F892F08}"/>
              </a:ext>
            </a:extLst>
          </p:cNvPr>
          <p:cNvSpPr>
            <a:spLocks xmlns:a="http://schemas.openxmlformats.org/drawingml/2006/main" noGrp="1"/>
          </p:cNvSpPr>
          <p:nvPr/>
        </p:nvSpPr>
        <p:spPr>
          <a:xfrm xmlns:a="http://schemas.openxmlformats.org/drawingml/2006/main">
            <a:off x="9639300" y="2143125"/>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24" name="">
            <a:extLst xmlns:a="http://schemas.openxmlformats.org/drawingml/2006/main">
              <a:ext uri="{FF2B5EF4-FFF2-40B4-BE49-F238E27FC236}">
                <a16:creationId xmlns:a16="http://schemas.microsoft.com/office/drawing/2014/main" id="{E089AD6F-EE0C-41D2-8464-1411C7A9F94E}"/>
              </a:ext>
            </a:extLst>
          </p:cNvPr>
          <p:cNvSpPr>
            <a:spLocks xmlns:a="http://schemas.openxmlformats.org/drawingml/2006/main" noGrp="1"/>
          </p:cNvSpPr>
          <p:nvPr/>
        </p:nvSpPr>
        <p:spPr>
          <a:xfrm xmlns:a="http://schemas.openxmlformats.org/drawingml/2006/main">
            <a:off x="11782425" y="2714625"/>
            <a:ext cx="953" cy="953"/>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919060F-C909-43BE-82B4-A6843738C3F3}"/>
              </a:ext>
            </a:extLst>
          </p:cNvPr>
          <p:cNvSpPr>
            <a:spLocks xmlns:a="http://schemas.openxmlformats.org/drawingml/2006/main" noGrp="1"/>
          </p:cNvSpPr>
          <p:nvPr/>
        </p:nvSpPr>
        <p:spPr>
          <a:xfrm xmlns:a="http://schemas.openxmlformats.org/drawingml/2006/main">
            <a:off x="9401175" y="2714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4" name=""/>
          <p:cNvCxnSpPr>
            <a:stCxn xmlns:a="http://schemas.openxmlformats.org/drawingml/2006/main" id="24" idx="3"/>
            <a:endCxn xmlns:a="http://schemas.openxmlformats.org/drawingml/2006/main" id="25" idx="1"/>
          </p:cNvCxnSpPr>
          <p:nvPr/>
        </p:nvCxnSpPr>
        <p:spPr>
          <a:xfrm xmlns:a="http://schemas.openxmlformats.org/drawingml/2006/main" flipH="1">
            <a:off x="9401175" y="271510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7" name="">
            <a:extLst xmlns:a="http://schemas.openxmlformats.org/drawingml/2006/main">
              <a:ext uri="{FF2B5EF4-FFF2-40B4-BE49-F238E27FC236}">
                <a16:creationId xmlns:a16="http://schemas.microsoft.com/office/drawing/2014/main" id="{FA1E9632-3F43-46A3-85CC-00B1462C0C8F}"/>
              </a:ext>
            </a:extLst>
          </p:cNvPr>
          <p:cNvSpPr>
            <a:spLocks xmlns:a="http://schemas.openxmlformats.org/drawingml/2006/main" noGrp="1"/>
          </p:cNvSpPr>
          <p:nvPr/>
        </p:nvSpPr>
        <p:spPr>
          <a:xfrm xmlns:a="http://schemas.openxmlformats.org/drawingml/2006/main">
            <a:off x="9591675" y="272415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28" name="">
            <a:extLst xmlns:a="http://schemas.openxmlformats.org/drawingml/2006/main">
              <a:ext uri="{FF2B5EF4-FFF2-40B4-BE49-F238E27FC236}">
                <a16:creationId xmlns:a16="http://schemas.microsoft.com/office/drawing/2014/main" id="{C0A58E6B-CB71-43AB-B2C4-26C627DBCBBA}"/>
              </a:ext>
            </a:extLst>
          </p:cNvPr>
          <p:cNvSpPr>
            <a:spLocks xmlns:a="http://schemas.openxmlformats.org/drawingml/2006/main" noGrp="1"/>
          </p:cNvSpPr>
          <p:nvPr/>
        </p:nvSpPr>
        <p:spPr>
          <a:xfrm xmlns:a="http://schemas.openxmlformats.org/drawingml/2006/main">
            <a:off x="619125" y="308610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29" name="">
            <a:extLst xmlns:a="http://schemas.openxmlformats.org/drawingml/2006/main">
              <a:ext uri="{FF2B5EF4-FFF2-40B4-BE49-F238E27FC236}">
                <a16:creationId xmlns:a16="http://schemas.microsoft.com/office/drawing/2014/main" id="{343B8EF7-512C-4B9F-BBE6-23465EB1407B}"/>
              </a:ext>
            </a:extLst>
          </p:cNvPr>
          <p:cNvSpPr>
            <a:spLocks xmlns:a="http://schemas.openxmlformats.org/drawingml/2006/main" noGrp="1"/>
          </p:cNvSpPr>
          <p:nvPr/>
        </p:nvSpPr>
        <p:spPr>
          <a:xfrm xmlns:a="http://schemas.openxmlformats.org/drawingml/2006/main">
            <a:off x="5781675" y="308610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2  Manage Drivers &amp; Vehicles</a:t>
            </a:r>
          </a:p>
        </p:txBody>
      </p:sp>
      <p:sp>
        <p:nvSpPr>
          <p:cNvPr id="30" name="">
            <a:extLst xmlns:a="http://schemas.openxmlformats.org/drawingml/2006/main">
              <a:ext uri="{FF2B5EF4-FFF2-40B4-BE49-F238E27FC236}">
                <a16:creationId xmlns:a16="http://schemas.microsoft.com/office/drawing/2014/main" id="{D35B8C29-290C-4515-A689-F60290861FA5}"/>
              </a:ext>
            </a:extLst>
          </p:cNvPr>
          <p:cNvSpPr>
            <a:spLocks xmlns:a="http://schemas.openxmlformats.org/drawingml/2006/main" noGrp="1"/>
          </p:cNvSpPr>
          <p:nvPr/>
        </p:nvSpPr>
        <p:spPr>
          <a:xfrm xmlns:a="http://schemas.openxmlformats.org/drawingml/2006/main">
            <a:off x="11782425" y="308610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D1  Users/Businesses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D3  Vehicles     D4  Drivers</a:t>
            </a:r>
          </a:p>
        </p:txBody>
      </p:sp>
      <p:sp>
        <p:nvSpPr>
          <p:cNvPr id="31" name="">
            <a:extLst xmlns:a="http://schemas.openxmlformats.org/drawingml/2006/main">
              <a:ext uri="{FF2B5EF4-FFF2-40B4-BE49-F238E27FC236}">
                <a16:creationId xmlns:a16="http://schemas.microsoft.com/office/drawing/2014/main" id="{DC0AF3C0-1DFC-4A75-9497-443EB19D2CB2}"/>
              </a:ext>
            </a:extLst>
          </p:cNvPr>
          <p:cNvSpPr>
            <a:spLocks xmlns:a="http://schemas.openxmlformats.org/drawingml/2006/main" noGrp="1"/>
          </p:cNvSpPr>
          <p:nvPr/>
        </p:nvSpPr>
        <p:spPr>
          <a:xfrm xmlns:a="http://schemas.openxmlformats.org/drawingml/2006/main" flipV="0">
            <a:off x="11944350" y="308610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32" name="">
            <a:extLst xmlns:a="http://schemas.openxmlformats.org/drawingml/2006/main">
              <a:ext uri="{FF2B5EF4-FFF2-40B4-BE49-F238E27FC236}">
                <a16:creationId xmlns:a16="http://schemas.microsoft.com/office/drawing/2014/main" id="{56D2843A-44F7-4627-B6C6-789B11548100}"/>
              </a:ext>
            </a:extLst>
          </p:cNvPr>
          <p:cNvSpPr>
            <a:spLocks xmlns:a="http://schemas.openxmlformats.org/drawingml/2006/main" noGrp="1"/>
          </p:cNvSpPr>
          <p:nvPr/>
        </p:nvSpPr>
        <p:spPr>
          <a:xfrm xmlns:a="http://schemas.openxmlformats.org/drawingml/2006/main">
            <a:off x="3286125" y="3238500"/>
            <a:ext cx="953" cy="953"/>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960D9BE-3269-4DA6-9727-B9BB3875F81E}"/>
              </a:ext>
            </a:extLst>
          </p:cNvPr>
          <p:cNvSpPr>
            <a:spLocks xmlns:a="http://schemas.openxmlformats.org/drawingml/2006/main" noGrp="1"/>
          </p:cNvSpPr>
          <p:nvPr/>
        </p:nvSpPr>
        <p:spPr>
          <a:xfrm xmlns:a="http://schemas.openxmlformats.org/drawingml/2006/main">
            <a:off x="5781675" y="32385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2" name=""/>
          <p:cNvCxnSpPr>
            <a:stCxn xmlns:a="http://schemas.openxmlformats.org/drawingml/2006/main" id="32" idx="3"/>
            <a:endCxn xmlns:a="http://schemas.openxmlformats.org/drawingml/2006/main" id="33" idx="1"/>
          </p:cNvCxnSpPr>
          <p:nvPr/>
        </p:nvCxnSpPr>
        <p:spPr>
          <a:xfrm xmlns:a="http://schemas.openxmlformats.org/drawingml/2006/main">
            <a:off x="3287078" y="323897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5" name="">
            <a:extLst xmlns:a="http://schemas.openxmlformats.org/drawingml/2006/main">
              <a:ext uri="{FF2B5EF4-FFF2-40B4-BE49-F238E27FC236}">
                <a16:creationId xmlns:a16="http://schemas.microsoft.com/office/drawing/2014/main" id="{CD3EF80B-3E71-4C19-A1F9-EE3B151C53D4}"/>
              </a:ext>
            </a:extLst>
          </p:cNvPr>
          <p:cNvSpPr>
            <a:spLocks xmlns:a="http://schemas.openxmlformats.org/drawingml/2006/main" noGrp="1"/>
          </p:cNvSpPr>
          <p:nvPr/>
        </p:nvSpPr>
        <p:spPr>
          <a:xfrm xmlns:a="http://schemas.openxmlformats.org/drawingml/2006/main">
            <a:off x="3371850" y="29718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Fleet / account details</a:t>
            </a:r>
          </a:p>
        </p:txBody>
      </p:sp>
      <p:sp>
        <p:nvSpPr>
          <p:cNvPr id="36" name="">
            <a:extLst xmlns:a="http://schemas.openxmlformats.org/drawingml/2006/main">
              <a:ext uri="{FF2B5EF4-FFF2-40B4-BE49-F238E27FC236}">
                <a16:creationId xmlns:a16="http://schemas.microsoft.com/office/drawing/2014/main" id="{943143B0-A4F1-4A35-802B-5FF795E2BF3B}"/>
              </a:ext>
            </a:extLst>
          </p:cNvPr>
          <p:cNvSpPr>
            <a:spLocks xmlns:a="http://schemas.openxmlformats.org/drawingml/2006/main" noGrp="1"/>
          </p:cNvSpPr>
          <p:nvPr/>
        </p:nvSpPr>
        <p:spPr>
          <a:xfrm xmlns:a="http://schemas.openxmlformats.org/drawingml/2006/main">
            <a:off x="5781675" y="3543300"/>
            <a:ext cx="953" cy="953"/>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909BAC8-226B-4C9A-AA00-0491377938B8}"/>
              </a:ext>
            </a:extLst>
          </p:cNvPr>
          <p:cNvSpPr>
            <a:spLocks xmlns:a="http://schemas.openxmlformats.org/drawingml/2006/main" noGrp="1"/>
          </p:cNvSpPr>
          <p:nvPr/>
        </p:nvSpPr>
        <p:spPr>
          <a:xfrm xmlns:a="http://schemas.openxmlformats.org/drawingml/2006/main">
            <a:off x="3286125" y="3543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6" name=""/>
          <p:cNvCxnSpPr>
            <a:stCxn xmlns:a="http://schemas.openxmlformats.org/drawingml/2006/main" id="36" idx="3"/>
            <a:endCxn xmlns:a="http://schemas.openxmlformats.org/drawingml/2006/main" id="37" idx="1"/>
          </p:cNvCxnSpPr>
          <p:nvPr/>
        </p:nvCxnSpPr>
        <p:spPr>
          <a:xfrm xmlns:a="http://schemas.openxmlformats.org/drawingml/2006/main" flipH="1">
            <a:off x="3286125" y="354377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9" name="">
            <a:extLst xmlns:a="http://schemas.openxmlformats.org/drawingml/2006/main">
              <a:ext uri="{FF2B5EF4-FFF2-40B4-BE49-F238E27FC236}">
                <a16:creationId xmlns:a16="http://schemas.microsoft.com/office/drawing/2014/main" id="{68BC6A18-FC1A-4793-94F9-4C72E8AF4B0E}"/>
              </a:ext>
            </a:extLst>
          </p:cNvPr>
          <p:cNvSpPr>
            <a:spLocks xmlns:a="http://schemas.openxmlformats.org/drawingml/2006/main" noGrp="1"/>
          </p:cNvSpPr>
          <p:nvPr/>
        </p:nvSpPr>
        <p:spPr>
          <a:xfrm xmlns:a="http://schemas.openxmlformats.org/drawingml/2006/main">
            <a:off x="3352800" y="35528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Driver and vehicle records</a:t>
            </a:r>
          </a:p>
        </p:txBody>
      </p:sp>
      <p:sp>
        <p:nvSpPr>
          <p:cNvPr id="40" name="">
            <a:extLst xmlns:a="http://schemas.openxmlformats.org/drawingml/2006/main">
              <a:ext uri="{FF2B5EF4-FFF2-40B4-BE49-F238E27FC236}">
                <a16:creationId xmlns:a16="http://schemas.microsoft.com/office/drawing/2014/main" id="{E0B725E8-60AB-40D4-9876-E447450831EE}"/>
              </a:ext>
            </a:extLst>
          </p:cNvPr>
          <p:cNvSpPr>
            <a:spLocks xmlns:a="http://schemas.openxmlformats.org/drawingml/2006/main" noGrp="1"/>
          </p:cNvSpPr>
          <p:nvPr/>
        </p:nvSpPr>
        <p:spPr>
          <a:xfrm xmlns:a="http://schemas.openxmlformats.org/drawingml/2006/main">
            <a:off x="9401175" y="3238500"/>
            <a:ext cx="953" cy="953"/>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6EDFB90-F7DA-49B9-8288-FFCFA096EE7B}"/>
              </a:ext>
            </a:extLst>
          </p:cNvPr>
          <p:cNvSpPr>
            <a:spLocks xmlns:a="http://schemas.openxmlformats.org/drawingml/2006/main" noGrp="1"/>
          </p:cNvSpPr>
          <p:nvPr/>
        </p:nvSpPr>
        <p:spPr>
          <a:xfrm xmlns:a="http://schemas.openxmlformats.org/drawingml/2006/main">
            <a:off x="11782425" y="32385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0" name=""/>
          <p:cNvCxnSpPr>
            <a:stCxn xmlns:a="http://schemas.openxmlformats.org/drawingml/2006/main" id="40" idx="3"/>
            <a:endCxn xmlns:a="http://schemas.openxmlformats.org/drawingml/2006/main" id="41" idx="1"/>
          </p:cNvCxnSpPr>
          <p:nvPr/>
        </p:nvCxnSpPr>
        <p:spPr>
          <a:xfrm xmlns:a="http://schemas.openxmlformats.org/drawingml/2006/main">
            <a:off x="9402128" y="3238977"/>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3" name="">
            <a:extLst xmlns:a="http://schemas.openxmlformats.org/drawingml/2006/main">
              <a:ext uri="{FF2B5EF4-FFF2-40B4-BE49-F238E27FC236}">
                <a16:creationId xmlns:a16="http://schemas.microsoft.com/office/drawing/2014/main" id="{E3D3F2D7-5467-48FF-A303-9BC337E083C7}"/>
              </a:ext>
            </a:extLst>
          </p:cNvPr>
          <p:cNvSpPr>
            <a:spLocks xmlns:a="http://schemas.openxmlformats.org/drawingml/2006/main" noGrp="1"/>
          </p:cNvSpPr>
          <p:nvPr/>
        </p:nvSpPr>
        <p:spPr>
          <a:xfrm xmlns:a="http://schemas.openxmlformats.org/drawingml/2006/main">
            <a:off x="9639300" y="2971800"/>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44" name="">
            <a:extLst xmlns:a="http://schemas.openxmlformats.org/drawingml/2006/main">
              <a:ext uri="{FF2B5EF4-FFF2-40B4-BE49-F238E27FC236}">
                <a16:creationId xmlns:a16="http://schemas.microsoft.com/office/drawing/2014/main" id="{63F406CB-B0C4-41A7-A539-07C7F4FF343C}"/>
              </a:ext>
            </a:extLst>
          </p:cNvPr>
          <p:cNvSpPr>
            <a:spLocks xmlns:a="http://schemas.openxmlformats.org/drawingml/2006/main" noGrp="1"/>
          </p:cNvSpPr>
          <p:nvPr/>
        </p:nvSpPr>
        <p:spPr>
          <a:xfrm xmlns:a="http://schemas.openxmlformats.org/drawingml/2006/main">
            <a:off x="11782425" y="3543300"/>
            <a:ext cx="953" cy="953"/>
          </a:xfrm>
          <a:prstGeom xmlns:a="http://schemas.openxmlformats.org/drawingml/2006/main" prst="rect">
            <a:avLst/>
          </a:prstGeom>
          <a:noFill xmlns:a="http://schemas.openxmlformats.org/drawingml/2006/main"/>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0CDFE295-DFEE-48DE-8BE4-4A52E23B2D72}"/>
              </a:ext>
            </a:extLst>
          </p:cNvPr>
          <p:cNvSpPr>
            <a:spLocks xmlns:a="http://schemas.openxmlformats.org/drawingml/2006/main" noGrp="1"/>
          </p:cNvSpPr>
          <p:nvPr/>
        </p:nvSpPr>
        <p:spPr>
          <a:xfrm xmlns:a="http://schemas.openxmlformats.org/drawingml/2006/main">
            <a:off x="9401175" y="3543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4" name=""/>
          <p:cNvCxnSpPr>
            <a:stCxn xmlns:a="http://schemas.openxmlformats.org/drawingml/2006/main" id="44" idx="3"/>
            <a:endCxn xmlns:a="http://schemas.openxmlformats.org/drawingml/2006/main" id="45" idx="1"/>
          </p:cNvCxnSpPr>
          <p:nvPr/>
        </p:nvCxnSpPr>
        <p:spPr>
          <a:xfrm xmlns:a="http://schemas.openxmlformats.org/drawingml/2006/main" flipH="1">
            <a:off x="9401175" y="354377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7" name="">
            <a:extLst xmlns:a="http://schemas.openxmlformats.org/drawingml/2006/main">
              <a:ext uri="{FF2B5EF4-FFF2-40B4-BE49-F238E27FC236}">
                <a16:creationId xmlns:a16="http://schemas.microsoft.com/office/drawing/2014/main" id="{C53FB41B-0FB0-47F8-AD9B-B7F068013C95}"/>
              </a:ext>
            </a:extLst>
          </p:cNvPr>
          <p:cNvSpPr>
            <a:spLocks xmlns:a="http://schemas.openxmlformats.org/drawingml/2006/main" noGrp="1"/>
          </p:cNvSpPr>
          <p:nvPr/>
        </p:nvSpPr>
        <p:spPr>
          <a:xfrm xmlns:a="http://schemas.openxmlformats.org/drawingml/2006/main">
            <a:off x="9591675" y="355282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48" name="">
            <a:extLst xmlns:a="http://schemas.openxmlformats.org/drawingml/2006/main">
              <a:ext uri="{FF2B5EF4-FFF2-40B4-BE49-F238E27FC236}">
                <a16:creationId xmlns:a16="http://schemas.microsoft.com/office/drawing/2014/main" id="{6EF82348-1835-4C52-A031-B86D528C70B0}"/>
              </a:ext>
            </a:extLst>
          </p:cNvPr>
          <p:cNvSpPr>
            <a:spLocks xmlns:a="http://schemas.openxmlformats.org/drawingml/2006/main" noGrp="1"/>
          </p:cNvSpPr>
          <p:nvPr/>
        </p:nvSpPr>
        <p:spPr>
          <a:xfrm xmlns:a="http://schemas.openxmlformats.org/drawingml/2006/main">
            <a:off x="619125" y="391477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49" name="">
            <a:extLst xmlns:a="http://schemas.openxmlformats.org/drawingml/2006/main">
              <a:ext uri="{FF2B5EF4-FFF2-40B4-BE49-F238E27FC236}">
                <a16:creationId xmlns:a16="http://schemas.microsoft.com/office/drawing/2014/main" id="{3B28B4D5-9F0A-4E52-8DA8-31762E5AF84A}"/>
              </a:ext>
            </a:extLst>
          </p:cNvPr>
          <p:cNvSpPr>
            <a:spLocks xmlns:a="http://schemas.openxmlformats.org/drawingml/2006/main" noGrp="1"/>
          </p:cNvSpPr>
          <p:nvPr/>
        </p:nvSpPr>
        <p:spPr>
          <a:xfrm xmlns:a="http://schemas.openxmlformats.org/drawingml/2006/main">
            <a:off x="5781675" y="391477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3  Validate Constraints</a:t>
            </a:r>
          </a:p>
        </p:txBody>
      </p:sp>
      <p:sp>
        <p:nvSpPr>
          <p:cNvPr id="50" name="">
            <a:extLst xmlns:a="http://schemas.openxmlformats.org/drawingml/2006/main">
              <a:ext uri="{FF2B5EF4-FFF2-40B4-BE49-F238E27FC236}">
                <a16:creationId xmlns:a16="http://schemas.microsoft.com/office/drawing/2014/main" id="{5C786463-6DE3-4741-8CEF-7567564B9EB8}"/>
              </a:ext>
            </a:extLst>
          </p:cNvPr>
          <p:cNvSpPr>
            <a:spLocks xmlns:a="http://schemas.openxmlformats.org/drawingml/2006/main" noGrp="1"/>
          </p:cNvSpPr>
          <p:nvPr/>
        </p:nvSpPr>
        <p:spPr>
          <a:xfrm xmlns:a="http://schemas.openxmlformats.org/drawingml/2006/main">
            <a:off x="11782425" y="391477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     D3  Vehicles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D4  Drivers</a:t>
            </a:r>
          </a:p>
        </p:txBody>
      </p:sp>
      <p:sp>
        <p:nvSpPr>
          <p:cNvPr id="51" name="">
            <a:extLst xmlns:a="http://schemas.openxmlformats.org/drawingml/2006/main">
              <a:ext uri="{FF2B5EF4-FFF2-40B4-BE49-F238E27FC236}">
                <a16:creationId xmlns:a16="http://schemas.microsoft.com/office/drawing/2014/main" id="{89F0D9D6-5A32-430F-AAE2-69AD640835FE}"/>
              </a:ext>
            </a:extLst>
          </p:cNvPr>
          <p:cNvSpPr>
            <a:spLocks xmlns:a="http://schemas.openxmlformats.org/drawingml/2006/main" noGrp="1"/>
          </p:cNvSpPr>
          <p:nvPr/>
        </p:nvSpPr>
        <p:spPr>
          <a:xfrm xmlns:a="http://schemas.openxmlformats.org/drawingml/2006/main" flipV="0">
            <a:off x="11944350" y="391477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52" name="">
            <a:extLst xmlns:a="http://schemas.openxmlformats.org/drawingml/2006/main">
              <a:ext uri="{FF2B5EF4-FFF2-40B4-BE49-F238E27FC236}">
                <a16:creationId xmlns:a16="http://schemas.microsoft.com/office/drawing/2014/main" id="{27A6B054-605B-4ADA-AD85-282DC29AD886}"/>
              </a:ext>
            </a:extLst>
          </p:cNvPr>
          <p:cNvSpPr>
            <a:spLocks xmlns:a="http://schemas.openxmlformats.org/drawingml/2006/main" noGrp="1"/>
          </p:cNvSpPr>
          <p:nvPr/>
        </p:nvSpPr>
        <p:spPr>
          <a:xfrm xmlns:a="http://schemas.openxmlformats.org/drawingml/2006/main">
            <a:off x="3286125" y="4067175"/>
            <a:ext cx="953" cy="953"/>
          </a:xfrm>
          <a:prstGeom xmlns:a="http://schemas.openxmlformats.org/drawingml/2006/main" prst="rect">
            <a:avLst/>
          </a:prstGeom>
          <a:noFill xmlns:a="http://schemas.openxmlformats.org/drawingml/2006/main"/>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F0A90BBF-5D23-4995-81ED-313DF7666DD9}"/>
              </a:ext>
            </a:extLst>
          </p:cNvPr>
          <p:cNvSpPr>
            <a:spLocks xmlns:a="http://schemas.openxmlformats.org/drawingml/2006/main" noGrp="1"/>
          </p:cNvSpPr>
          <p:nvPr/>
        </p:nvSpPr>
        <p:spPr>
          <a:xfrm xmlns:a="http://schemas.openxmlformats.org/drawingml/2006/main">
            <a:off x="5781675" y="40671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2" name=""/>
          <p:cNvCxnSpPr>
            <a:stCxn xmlns:a="http://schemas.openxmlformats.org/drawingml/2006/main" id="52" idx="3"/>
            <a:endCxn xmlns:a="http://schemas.openxmlformats.org/drawingml/2006/main" id="53" idx="1"/>
          </p:cNvCxnSpPr>
          <p:nvPr/>
        </p:nvCxnSpPr>
        <p:spPr>
          <a:xfrm xmlns:a="http://schemas.openxmlformats.org/drawingml/2006/main">
            <a:off x="3287078" y="406765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5" name="">
            <a:extLst xmlns:a="http://schemas.openxmlformats.org/drawingml/2006/main">
              <a:ext uri="{FF2B5EF4-FFF2-40B4-BE49-F238E27FC236}">
                <a16:creationId xmlns:a16="http://schemas.microsoft.com/office/drawing/2014/main" id="{D192D26B-E3D2-4CCA-8D0F-A0772659912D}"/>
              </a:ext>
            </a:extLst>
          </p:cNvPr>
          <p:cNvSpPr>
            <a:spLocks xmlns:a="http://schemas.openxmlformats.org/drawingml/2006/main" noGrp="1"/>
          </p:cNvSpPr>
          <p:nvPr/>
        </p:nvSpPr>
        <p:spPr>
          <a:xfrm xmlns:a="http://schemas.openxmlformats.org/drawingml/2006/main">
            <a:off x="3371850" y="380047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Planning constraints</a:t>
            </a:r>
          </a:p>
        </p:txBody>
      </p:sp>
      <p:sp>
        <p:nvSpPr>
          <p:cNvPr id="56" name="">
            <a:extLst xmlns:a="http://schemas.openxmlformats.org/drawingml/2006/main">
              <a:ext uri="{FF2B5EF4-FFF2-40B4-BE49-F238E27FC236}">
                <a16:creationId xmlns:a16="http://schemas.microsoft.com/office/drawing/2014/main" id="{8483E251-16E7-4C41-9415-A8835964D40F}"/>
              </a:ext>
            </a:extLst>
          </p:cNvPr>
          <p:cNvSpPr>
            <a:spLocks xmlns:a="http://schemas.openxmlformats.org/drawingml/2006/main" noGrp="1"/>
          </p:cNvSpPr>
          <p:nvPr/>
        </p:nvSpPr>
        <p:spPr>
          <a:xfrm xmlns:a="http://schemas.openxmlformats.org/drawingml/2006/main">
            <a:off x="5781675" y="4371975"/>
            <a:ext cx="953" cy="953"/>
          </a:xfrm>
          <a:prstGeom xmlns:a="http://schemas.openxmlformats.org/drawingml/2006/main" prst="rect">
            <a:avLst/>
          </a:prstGeom>
          <a:noFill xmlns:a="http://schemas.openxmlformats.org/drawingml/2006/main"/>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83C7BB25-F9D9-4FBA-A698-FA65EE90F3D2}"/>
              </a:ext>
            </a:extLst>
          </p:cNvPr>
          <p:cNvSpPr>
            <a:spLocks xmlns:a="http://schemas.openxmlformats.org/drawingml/2006/main" noGrp="1"/>
          </p:cNvSpPr>
          <p:nvPr/>
        </p:nvSpPr>
        <p:spPr>
          <a:xfrm xmlns:a="http://schemas.openxmlformats.org/drawingml/2006/main">
            <a:off x="3286125" y="43719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6" name=""/>
          <p:cNvCxnSpPr>
            <a:stCxn xmlns:a="http://schemas.openxmlformats.org/drawingml/2006/main" id="56" idx="3"/>
            <a:endCxn xmlns:a="http://schemas.openxmlformats.org/drawingml/2006/main" id="57" idx="1"/>
          </p:cNvCxnSpPr>
          <p:nvPr/>
        </p:nvCxnSpPr>
        <p:spPr>
          <a:xfrm xmlns:a="http://schemas.openxmlformats.org/drawingml/2006/main" flipH="1">
            <a:off x="3286125" y="437245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9" name="">
            <a:extLst xmlns:a="http://schemas.openxmlformats.org/drawingml/2006/main">
              <a:ext uri="{FF2B5EF4-FFF2-40B4-BE49-F238E27FC236}">
                <a16:creationId xmlns:a16="http://schemas.microsoft.com/office/drawing/2014/main" id="{272F529E-8702-4834-9159-25F1133F2A80}"/>
              </a:ext>
            </a:extLst>
          </p:cNvPr>
          <p:cNvSpPr>
            <a:spLocks xmlns:a="http://schemas.openxmlformats.org/drawingml/2006/main" noGrp="1"/>
          </p:cNvSpPr>
          <p:nvPr/>
        </p:nvSpPr>
        <p:spPr>
          <a:xfrm xmlns:a="http://schemas.openxmlformats.org/drawingml/2006/main">
            <a:off x="3352800" y="43815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Validation issues</a:t>
            </a:r>
          </a:p>
        </p:txBody>
      </p:sp>
      <p:sp>
        <p:nvSpPr>
          <p:cNvPr id="60" name="">
            <a:extLst xmlns:a="http://schemas.openxmlformats.org/drawingml/2006/main">
              <a:ext uri="{FF2B5EF4-FFF2-40B4-BE49-F238E27FC236}">
                <a16:creationId xmlns:a16="http://schemas.microsoft.com/office/drawing/2014/main" id="{3BAC9AC0-3FD8-4D7B-A076-B5B7543842E1}"/>
              </a:ext>
            </a:extLst>
          </p:cNvPr>
          <p:cNvSpPr>
            <a:spLocks xmlns:a="http://schemas.openxmlformats.org/drawingml/2006/main" noGrp="1"/>
          </p:cNvSpPr>
          <p:nvPr/>
        </p:nvSpPr>
        <p:spPr>
          <a:xfrm xmlns:a="http://schemas.openxmlformats.org/drawingml/2006/main">
            <a:off x="9401175" y="4067175"/>
            <a:ext cx="953" cy="953"/>
          </a:xfrm>
          <a:prstGeom xmlns:a="http://schemas.openxmlformats.org/drawingml/2006/main" prst="rect">
            <a:avLst/>
          </a:prstGeom>
          <a:noFill xmlns:a="http://schemas.openxmlformats.org/drawingml/2006/main"/>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C7C76A4-E303-4623-8F19-4D9A81BC576E}"/>
              </a:ext>
            </a:extLst>
          </p:cNvPr>
          <p:cNvSpPr>
            <a:spLocks xmlns:a="http://schemas.openxmlformats.org/drawingml/2006/main" noGrp="1"/>
          </p:cNvSpPr>
          <p:nvPr/>
        </p:nvSpPr>
        <p:spPr>
          <a:xfrm xmlns:a="http://schemas.openxmlformats.org/drawingml/2006/main">
            <a:off x="11782425" y="40671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0" name=""/>
          <p:cNvCxnSpPr>
            <a:stCxn xmlns:a="http://schemas.openxmlformats.org/drawingml/2006/main" id="60" idx="3"/>
            <a:endCxn xmlns:a="http://schemas.openxmlformats.org/drawingml/2006/main" id="61" idx="1"/>
          </p:cNvCxnSpPr>
          <p:nvPr/>
        </p:nvCxnSpPr>
        <p:spPr>
          <a:xfrm xmlns:a="http://schemas.openxmlformats.org/drawingml/2006/main">
            <a:off x="9402128" y="4067652"/>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3" name="">
            <a:extLst xmlns:a="http://schemas.openxmlformats.org/drawingml/2006/main">
              <a:ext uri="{FF2B5EF4-FFF2-40B4-BE49-F238E27FC236}">
                <a16:creationId xmlns:a16="http://schemas.microsoft.com/office/drawing/2014/main" id="{AEBC315E-170D-4813-9A95-8718347D7B7D}"/>
              </a:ext>
            </a:extLst>
          </p:cNvPr>
          <p:cNvSpPr>
            <a:spLocks xmlns:a="http://schemas.openxmlformats.org/drawingml/2006/main" noGrp="1"/>
          </p:cNvSpPr>
          <p:nvPr/>
        </p:nvSpPr>
        <p:spPr>
          <a:xfrm xmlns:a="http://schemas.openxmlformats.org/drawingml/2006/main">
            <a:off x="9639300" y="3800475"/>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64" name="">
            <a:extLst xmlns:a="http://schemas.openxmlformats.org/drawingml/2006/main">
              <a:ext uri="{FF2B5EF4-FFF2-40B4-BE49-F238E27FC236}">
                <a16:creationId xmlns:a16="http://schemas.microsoft.com/office/drawing/2014/main" id="{F75482AB-FC2C-403B-9269-7D29EFE584B4}"/>
              </a:ext>
            </a:extLst>
          </p:cNvPr>
          <p:cNvSpPr>
            <a:spLocks xmlns:a="http://schemas.openxmlformats.org/drawingml/2006/main" noGrp="1"/>
          </p:cNvSpPr>
          <p:nvPr/>
        </p:nvSpPr>
        <p:spPr>
          <a:xfrm xmlns:a="http://schemas.openxmlformats.org/drawingml/2006/main">
            <a:off x="11782425" y="4371975"/>
            <a:ext cx="953" cy="953"/>
          </a:xfrm>
          <a:prstGeom xmlns:a="http://schemas.openxmlformats.org/drawingml/2006/main" prst="rect">
            <a:avLst/>
          </a:prstGeom>
          <a:noFill xmlns:a="http://schemas.openxmlformats.org/drawingml/2006/main"/>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50C32237-5D1C-4899-B8A3-D970F7A81D13}"/>
              </a:ext>
            </a:extLst>
          </p:cNvPr>
          <p:cNvSpPr>
            <a:spLocks xmlns:a="http://schemas.openxmlformats.org/drawingml/2006/main" noGrp="1"/>
          </p:cNvSpPr>
          <p:nvPr/>
        </p:nvSpPr>
        <p:spPr>
          <a:xfrm xmlns:a="http://schemas.openxmlformats.org/drawingml/2006/main">
            <a:off x="9401175" y="43719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4" name=""/>
          <p:cNvCxnSpPr>
            <a:stCxn xmlns:a="http://schemas.openxmlformats.org/drawingml/2006/main" id="64" idx="3"/>
            <a:endCxn xmlns:a="http://schemas.openxmlformats.org/drawingml/2006/main" id="65" idx="1"/>
          </p:cNvCxnSpPr>
          <p:nvPr/>
        </p:nvCxnSpPr>
        <p:spPr>
          <a:xfrm xmlns:a="http://schemas.openxmlformats.org/drawingml/2006/main" flipH="1">
            <a:off x="9401175" y="437245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7" name="">
            <a:extLst xmlns:a="http://schemas.openxmlformats.org/drawingml/2006/main">
              <a:ext uri="{FF2B5EF4-FFF2-40B4-BE49-F238E27FC236}">
                <a16:creationId xmlns:a16="http://schemas.microsoft.com/office/drawing/2014/main" id="{2DC5C377-74B9-4CE0-8F20-E76E0FAEA875}"/>
              </a:ext>
            </a:extLst>
          </p:cNvPr>
          <p:cNvSpPr>
            <a:spLocks xmlns:a="http://schemas.openxmlformats.org/drawingml/2006/main" noGrp="1"/>
          </p:cNvSpPr>
          <p:nvPr/>
        </p:nvSpPr>
        <p:spPr>
          <a:xfrm xmlns:a="http://schemas.openxmlformats.org/drawingml/2006/main">
            <a:off x="9591675" y="438150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68" name="">
            <a:extLst xmlns:a="http://schemas.openxmlformats.org/drawingml/2006/main">
              <a:ext uri="{FF2B5EF4-FFF2-40B4-BE49-F238E27FC236}">
                <a16:creationId xmlns:a16="http://schemas.microsoft.com/office/drawing/2014/main" id="{9C3F480D-A8FA-4CF4-851D-6DB54D6CB6C3}"/>
              </a:ext>
            </a:extLst>
          </p:cNvPr>
          <p:cNvSpPr>
            <a:spLocks xmlns:a="http://schemas.openxmlformats.org/drawingml/2006/main" noGrp="1"/>
          </p:cNvSpPr>
          <p:nvPr/>
        </p:nvSpPr>
        <p:spPr>
          <a:xfrm xmlns:a="http://schemas.openxmlformats.org/drawingml/2006/main">
            <a:off x="619125" y="474345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Map / Routing API</a:t>
            </a:r>
          </a:p>
        </p:txBody>
      </p:sp>
      <p:sp>
        <p:nvSpPr>
          <p:cNvPr id="69" name="">
            <a:extLst xmlns:a="http://schemas.openxmlformats.org/drawingml/2006/main">
              <a:ext uri="{FF2B5EF4-FFF2-40B4-BE49-F238E27FC236}">
                <a16:creationId xmlns:a16="http://schemas.microsoft.com/office/drawing/2014/main" id="{39D4F9EF-FF4F-43DD-93B7-2148A63C87B4}"/>
              </a:ext>
            </a:extLst>
          </p:cNvPr>
          <p:cNvSpPr>
            <a:spLocks xmlns:a="http://schemas.openxmlformats.org/drawingml/2006/main" noGrp="1"/>
          </p:cNvSpPr>
          <p:nvPr/>
        </p:nvSpPr>
        <p:spPr>
          <a:xfrm xmlns:a="http://schemas.openxmlformats.org/drawingml/2006/main">
            <a:off x="5781675" y="474345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4  Optimize Routes</a:t>
            </a:r>
          </a:p>
        </p:txBody>
      </p:sp>
      <p:sp>
        <p:nvSpPr>
          <p:cNvPr id="70" name="">
            <a:extLst xmlns:a="http://schemas.openxmlformats.org/drawingml/2006/main">
              <a:ext uri="{FF2B5EF4-FFF2-40B4-BE49-F238E27FC236}">
                <a16:creationId xmlns:a16="http://schemas.microsoft.com/office/drawing/2014/main" id="{7E5639D6-34FB-4649-BCB7-9B211DA14531}"/>
              </a:ext>
            </a:extLst>
          </p:cNvPr>
          <p:cNvSpPr>
            <a:spLocks xmlns:a="http://schemas.openxmlformats.org/drawingml/2006/main" noGrp="1"/>
          </p:cNvSpPr>
          <p:nvPr/>
        </p:nvSpPr>
        <p:spPr>
          <a:xfrm xmlns:a="http://schemas.openxmlformats.org/drawingml/2006/main">
            <a:off x="11782425" y="474345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D6  Locations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71" name="">
            <a:extLst xmlns:a="http://schemas.openxmlformats.org/drawingml/2006/main">
              <a:ext uri="{FF2B5EF4-FFF2-40B4-BE49-F238E27FC236}">
                <a16:creationId xmlns:a16="http://schemas.microsoft.com/office/drawing/2014/main" id="{6D0B662C-15AA-419B-844D-9712936752F5}"/>
              </a:ext>
            </a:extLst>
          </p:cNvPr>
          <p:cNvSpPr>
            <a:spLocks xmlns:a="http://schemas.openxmlformats.org/drawingml/2006/main" noGrp="1"/>
          </p:cNvSpPr>
          <p:nvPr/>
        </p:nvSpPr>
        <p:spPr>
          <a:xfrm xmlns:a="http://schemas.openxmlformats.org/drawingml/2006/main" flipV="0">
            <a:off x="11944350" y="474345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72" name="">
            <a:extLst xmlns:a="http://schemas.openxmlformats.org/drawingml/2006/main">
              <a:ext uri="{FF2B5EF4-FFF2-40B4-BE49-F238E27FC236}">
                <a16:creationId xmlns:a16="http://schemas.microsoft.com/office/drawing/2014/main" id="{C6C99C80-6F99-4A58-98A4-27CF608863A9}"/>
              </a:ext>
            </a:extLst>
          </p:cNvPr>
          <p:cNvSpPr>
            <a:spLocks xmlns:a="http://schemas.openxmlformats.org/drawingml/2006/main" noGrp="1"/>
          </p:cNvSpPr>
          <p:nvPr/>
        </p:nvSpPr>
        <p:spPr>
          <a:xfrm xmlns:a="http://schemas.openxmlformats.org/drawingml/2006/main">
            <a:off x="3286125" y="4895850"/>
            <a:ext cx="953" cy="953"/>
          </a:xfrm>
          <a:prstGeom xmlns:a="http://schemas.openxmlformats.org/drawingml/2006/main" prst="rect">
            <a:avLst/>
          </a:prstGeom>
          <a:noFill xmlns:a="http://schemas.openxmlformats.org/drawingml/2006/main"/>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89C54FCC-544C-404F-8311-F9439FD27B41}"/>
              </a:ext>
            </a:extLst>
          </p:cNvPr>
          <p:cNvSpPr>
            <a:spLocks xmlns:a="http://schemas.openxmlformats.org/drawingml/2006/main" noGrp="1"/>
          </p:cNvSpPr>
          <p:nvPr/>
        </p:nvSpPr>
        <p:spPr>
          <a:xfrm xmlns:a="http://schemas.openxmlformats.org/drawingml/2006/main">
            <a:off x="5781675" y="4895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02" name=""/>
          <p:cNvCxnSpPr>
            <a:stCxn xmlns:a="http://schemas.openxmlformats.org/drawingml/2006/main" id="72" idx="3"/>
            <a:endCxn xmlns:a="http://schemas.openxmlformats.org/drawingml/2006/main" id="73" idx="1"/>
          </p:cNvCxnSpPr>
          <p:nvPr/>
        </p:nvCxnSpPr>
        <p:spPr>
          <a:xfrm xmlns:a="http://schemas.openxmlformats.org/drawingml/2006/main">
            <a:off x="3287078" y="489632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5" name="">
            <a:extLst xmlns:a="http://schemas.openxmlformats.org/drawingml/2006/main">
              <a:ext uri="{FF2B5EF4-FFF2-40B4-BE49-F238E27FC236}">
                <a16:creationId xmlns:a16="http://schemas.microsoft.com/office/drawing/2014/main" id="{477F0245-1F90-45F5-BC11-03E0B3B2199D}"/>
              </a:ext>
            </a:extLst>
          </p:cNvPr>
          <p:cNvSpPr>
            <a:spLocks xmlns:a="http://schemas.openxmlformats.org/drawingml/2006/main" noGrp="1"/>
          </p:cNvSpPr>
          <p:nvPr/>
        </p:nvSpPr>
        <p:spPr>
          <a:xfrm xmlns:a="http://schemas.openxmlformats.org/drawingml/2006/main">
            <a:off x="3371850" y="462915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Distances / travel times</a:t>
            </a:r>
          </a:p>
        </p:txBody>
      </p:sp>
      <p:sp>
        <p:nvSpPr>
          <p:cNvPr id="76" name="">
            <a:extLst xmlns:a="http://schemas.openxmlformats.org/drawingml/2006/main">
              <a:ext uri="{FF2B5EF4-FFF2-40B4-BE49-F238E27FC236}">
                <a16:creationId xmlns:a16="http://schemas.microsoft.com/office/drawing/2014/main" id="{E9E26C5C-5AE0-472A-9D12-B6FD5BBD900B}"/>
              </a:ext>
            </a:extLst>
          </p:cNvPr>
          <p:cNvSpPr>
            <a:spLocks xmlns:a="http://schemas.openxmlformats.org/drawingml/2006/main" noGrp="1"/>
          </p:cNvSpPr>
          <p:nvPr/>
        </p:nvSpPr>
        <p:spPr>
          <a:xfrm xmlns:a="http://schemas.openxmlformats.org/drawingml/2006/main">
            <a:off x="5781675" y="5200650"/>
            <a:ext cx="953" cy="953"/>
          </a:xfrm>
          <a:prstGeom xmlns:a="http://schemas.openxmlformats.org/drawingml/2006/main" prst="rect">
            <a:avLst/>
          </a:prstGeom>
          <a:noFill xmlns:a="http://schemas.openxmlformats.org/drawingml/2006/main"/>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D76E6D53-EEFF-4BC7-98A1-1048B87909EF}"/>
              </a:ext>
            </a:extLst>
          </p:cNvPr>
          <p:cNvSpPr>
            <a:spLocks xmlns:a="http://schemas.openxmlformats.org/drawingml/2006/main" noGrp="1"/>
          </p:cNvSpPr>
          <p:nvPr/>
        </p:nvSpPr>
        <p:spPr>
          <a:xfrm xmlns:a="http://schemas.openxmlformats.org/drawingml/2006/main">
            <a:off x="3286125" y="5200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06" name=""/>
          <p:cNvCxnSpPr>
            <a:stCxn xmlns:a="http://schemas.openxmlformats.org/drawingml/2006/main" id="76" idx="3"/>
            <a:endCxn xmlns:a="http://schemas.openxmlformats.org/drawingml/2006/main" id="77" idx="1"/>
          </p:cNvCxnSpPr>
          <p:nvPr/>
        </p:nvCxnSpPr>
        <p:spPr>
          <a:xfrm xmlns:a="http://schemas.openxmlformats.org/drawingml/2006/main" flipH="1">
            <a:off x="3286125" y="520112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9" name="">
            <a:extLst xmlns:a="http://schemas.openxmlformats.org/drawingml/2006/main">
              <a:ext uri="{FF2B5EF4-FFF2-40B4-BE49-F238E27FC236}">
                <a16:creationId xmlns:a16="http://schemas.microsoft.com/office/drawing/2014/main" id="{5AAEC9BE-AEFC-4554-9F74-BDC8E95B081B}"/>
              </a:ext>
            </a:extLst>
          </p:cNvPr>
          <p:cNvSpPr>
            <a:spLocks xmlns:a="http://schemas.openxmlformats.org/drawingml/2006/main" noGrp="1"/>
          </p:cNvSpPr>
          <p:nvPr/>
        </p:nvSpPr>
        <p:spPr>
          <a:xfrm xmlns:a="http://schemas.openxmlformats.org/drawingml/2006/main">
            <a:off x="3352800" y="521017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Location / distance query</a:t>
            </a:r>
          </a:p>
        </p:txBody>
      </p:sp>
      <p:sp>
        <p:nvSpPr>
          <p:cNvPr id="80" name="">
            <a:extLst xmlns:a="http://schemas.openxmlformats.org/drawingml/2006/main">
              <a:ext uri="{FF2B5EF4-FFF2-40B4-BE49-F238E27FC236}">
                <a16:creationId xmlns:a16="http://schemas.microsoft.com/office/drawing/2014/main" id="{4A71129F-F11F-428F-8B6C-76EAC3B50342}"/>
              </a:ext>
            </a:extLst>
          </p:cNvPr>
          <p:cNvSpPr>
            <a:spLocks xmlns:a="http://schemas.openxmlformats.org/drawingml/2006/main" noGrp="1"/>
          </p:cNvSpPr>
          <p:nvPr/>
        </p:nvSpPr>
        <p:spPr>
          <a:xfrm xmlns:a="http://schemas.openxmlformats.org/drawingml/2006/main">
            <a:off x="9401175" y="4895850"/>
            <a:ext cx="953" cy="953"/>
          </a:xfrm>
          <a:prstGeom xmlns:a="http://schemas.openxmlformats.org/drawingml/2006/main" prst="rect">
            <a:avLst/>
          </a:prstGeom>
          <a:noFill xmlns:a="http://schemas.openxmlformats.org/drawingml/2006/main"/>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B4B11920-3AA2-43FD-A6FE-A399F23C7E67}"/>
              </a:ext>
            </a:extLst>
          </p:cNvPr>
          <p:cNvSpPr>
            <a:spLocks xmlns:a="http://schemas.openxmlformats.org/drawingml/2006/main" noGrp="1"/>
          </p:cNvSpPr>
          <p:nvPr/>
        </p:nvSpPr>
        <p:spPr>
          <a:xfrm xmlns:a="http://schemas.openxmlformats.org/drawingml/2006/main">
            <a:off x="11782425" y="4895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0" name=""/>
          <p:cNvCxnSpPr>
            <a:stCxn xmlns:a="http://schemas.openxmlformats.org/drawingml/2006/main" id="80" idx="3"/>
            <a:endCxn xmlns:a="http://schemas.openxmlformats.org/drawingml/2006/main" id="81" idx="1"/>
          </p:cNvCxnSpPr>
          <p:nvPr/>
        </p:nvCxnSpPr>
        <p:spPr>
          <a:xfrm xmlns:a="http://schemas.openxmlformats.org/drawingml/2006/main">
            <a:off x="9402128" y="4896327"/>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3" name="">
            <a:extLst xmlns:a="http://schemas.openxmlformats.org/drawingml/2006/main">
              <a:ext uri="{FF2B5EF4-FFF2-40B4-BE49-F238E27FC236}">
                <a16:creationId xmlns:a16="http://schemas.microsoft.com/office/drawing/2014/main" id="{89571DE4-5CA3-4589-BC50-C7EEDA933ACB}"/>
              </a:ext>
            </a:extLst>
          </p:cNvPr>
          <p:cNvSpPr>
            <a:spLocks xmlns:a="http://schemas.openxmlformats.org/drawingml/2006/main" noGrp="1"/>
          </p:cNvSpPr>
          <p:nvPr/>
        </p:nvSpPr>
        <p:spPr>
          <a:xfrm xmlns:a="http://schemas.openxmlformats.org/drawingml/2006/main">
            <a:off x="9639300" y="4629150"/>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84" name="">
            <a:extLst xmlns:a="http://schemas.openxmlformats.org/drawingml/2006/main">
              <a:ext uri="{FF2B5EF4-FFF2-40B4-BE49-F238E27FC236}">
                <a16:creationId xmlns:a16="http://schemas.microsoft.com/office/drawing/2014/main" id="{23F22898-5C04-4F00-AFBE-F105FB15EB11}"/>
              </a:ext>
            </a:extLst>
          </p:cNvPr>
          <p:cNvSpPr>
            <a:spLocks xmlns:a="http://schemas.openxmlformats.org/drawingml/2006/main" noGrp="1"/>
          </p:cNvSpPr>
          <p:nvPr/>
        </p:nvSpPr>
        <p:spPr>
          <a:xfrm xmlns:a="http://schemas.openxmlformats.org/drawingml/2006/main">
            <a:off x="11782425" y="5200650"/>
            <a:ext cx="953" cy="953"/>
          </a:xfrm>
          <a:prstGeom xmlns:a="http://schemas.openxmlformats.org/drawingml/2006/main" prst="rect">
            <a:avLst/>
          </a:prstGeom>
          <a:noFill xmlns:a="http://schemas.openxmlformats.org/drawingml/2006/main"/>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0FB3CFF7-F9E3-4BB8-A2C2-D5834D8E2CBF}"/>
              </a:ext>
            </a:extLst>
          </p:cNvPr>
          <p:cNvSpPr>
            <a:spLocks xmlns:a="http://schemas.openxmlformats.org/drawingml/2006/main" noGrp="1"/>
          </p:cNvSpPr>
          <p:nvPr/>
        </p:nvSpPr>
        <p:spPr>
          <a:xfrm xmlns:a="http://schemas.openxmlformats.org/drawingml/2006/main">
            <a:off x="9401175" y="5200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4" name=""/>
          <p:cNvCxnSpPr>
            <a:stCxn xmlns:a="http://schemas.openxmlformats.org/drawingml/2006/main" id="84" idx="3"/>
            <a:endCxn xmlns:a="http://schemas.openxmlformats.org/drawingml/2006/main" id="85" idx="1"/>
          </p:cNvCxnSpPr>
          <p:nvPr/>
        </p:nvCxnSpPr>
        <p:spPr>
          <a:xfrm xmlns:a="http://schemas.openxmlformats.org/drawingml/2006/main" flipH="1">
            <a:off x="9401175" y="520112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7" name="">
            <a:extLst xmlns:a="http://schemas.openxmlformats.org/drawingml/2006/main">
              <a:ext uri="{FF2B5EF4-FFF2-40B4-BE49-F238E27FC236}">
                <a16:creationId xmlns:a16="http://schemas.microsoft.com/office/drawing/2014/main" id="{3308F67E-14CB-417E-8DA0-E05D7A1C8F49}"/>
              </a:ext>
            </a:extLst>
          </p:cNvPr>
          <p:cNvSpPr>
            <a:spLocks xmlns:a="http://schemas.openxmlformats.org/drawingml/2006/main" noGrp="1"/>
          </p:cNvSpPr>
          <p:nvPr/>
        </p:nvSpPr>
        <p:spPr>
          <a:xfrm xmlns:a="http://schemas.openxmlformats.org/drawingml/2006/main">
            <a:off x="9591675" y="52101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88" name="">
            <a:extLst xmlns:a="http://schemas.openxmlformats.org/drawingml/2006/main">
              <a:ext uri="{FF2B5EF4-FFF2-40B4-BE49-F238E27FC236}">
                <a16:creationId xmlns:a16="http://schemas.microsoft.com/office/drawing/2014/main" id="{E297DB85-06A5-461C-AEB2-CA3CA56E1CE1}"/>
              </a:ext>
            </a:extLst>
          </p:cNvPr>
          <p:cNvSpPr>
            <a:spLocks xmlns:a="http://schemas.openxmlformats.org/drawingml/2006/main" noGrp="1"/>
          </p:cNvSpPr>
          <p:nvPr/>
        </p:nvSpPr>
        <p:spPr>
          <a:xfrm xmlns:a="http://schemas.openxmlformats.org/drawingml/2006/main">
            <a:off x="619125" y="5572125"/>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Driver / Customer</a:t>
            </a:r>
          </a:p>
        </p:txBody>
      </p:sp>
      <p:sp>
        <p:nvSpPr>
          <p:cNvPr id="89" name="">
            <a:extLst xmlns:a="http://schemas.openxmlformats.org/drawingml/2006/main">
              <a:ext uri="{FF2B5EF4-FFF2-40B4-BE49-F238E27FC236}">
                <a16:creationId xmlns:a16="http://schemas.microsoft.com/office/drawing/2014/main" id="{89FECB74-F8FA-4725-B40E-BA2A52D985B1}"/>
              </a:ext>
            </a:extLst>
          </p:cNvPr>
          <p:cNvSpPr>
            <a:spLocks xmlns:a="http://schemas.openxmlformats.org/drawingml/2006/main" noGrp="1"/>
          </p:cNvSpPr>
          <p:nvPr/>
        </p:nvSpPr>
        <p:spPr>
          <a:xfrm xmlns:a="http://schemas.openxmlformats.org/drawingml/2006/main">
            <a:off x="5781675" y="5572125"/>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5  Track Deliveries</a:t>
            </a:r>
          </a:p>
        </p:txBody>
      </p:sp>
      <p:sp>
        <p:nvSpPr>
          <p:cNvPr id="90" name="">
            <a:extLst xmlns:a="http://schemas.openxmlformats.org/drawingml/2006/main">
              <a:ext uri="{FF2B5EF4-FFF2-40B4-BE49-F238E27FC236}">
                <a16:creationId xmlns:a16="http://schemas.microsoft.com/office/drawing/2014/main" id="{A2EC81D1-1E8E-4F3A-8D7B-A140C0EA7904}"/>
              </a:ext>
            </a:extLst>
          </p:cNvPr>
          <p:cNvSpPr>
            <a:spLocks xmlns:a="http://schemas.openxmlformats.org/drawingml/2006/main" noGrp="1"/>
          </p:cNvSpPr>
          <p:nvPr/>
        </p:nvSpPr>
        <p:spPr>
          <a:xfrm xmlns:a="http://schemas.openxmlformats.org/drawingml/2006/main">
            <a:off x="11782425" y="5572125"/>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D6  Locations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D7  Delivery Events</a:t>
            </a:r>
          </a:p>
        </p:txBody>
      </p:sp>
      <p:sp>
        <p:nvSpPr>
          <p:cNvPr id="91" name="">
            <a:extLst xmlns:a="http://schemas.openxmlformats.org/drawingml/2006/main">
              <a:ext uri="{FF2B5EF4-FFF2-40B4-BE49-F238E27FC236}">
                <a16:creationId xmlns:a16="http://schemas.microsoft.com/office/drawing/2014/main" id="{E0FE32B5-2087-4A21-8A28-9335031AEC63}"/>
              </a:ext>
            </a:extLst>
          </p:cNvPr>
          <p:cNvSpPr>
            <a:spLocks xmlns:a="http://schemas.openxmlformats.org/drawingml/2006/main" noGrp="1"/>
          </p:cNvSpPr>
          <p:nvPr/>
        </p:nvSpPr>
        <p:spPr>
          <a:xfrm xmlns:a="http://schemas.openxmlformats.org/drawingml/2006/main" flipV="0">
            <a:off x="11944350" y="5572125"/>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92" name="">
            <a:extLst xmlns:a="http://schemas.openxmlformats.org/drawingml/2006/main">
              <a:ext uri="{FF2B5EF4-FFF2-40B4-BE49-F238E27FC236}">
                <a16:creationId xmlns:a16="http://schemas.microsoft.com/office/drawing/2014/main" id="{5FACC953-6B29-45FB-A363-822EEB2286B6}"/>
              </a:ext>
            </a:extLst>
          </p:cNvPr>
          <p:cNvSpPr>
            <a:spLocks xmlns:a="http://schemas.openxmlformats.org/drawingml/2006/main" noGrp="1"/>
          </p:cNvSpPr>
          <p:nvPr/>
        </p:nvSpPr>
        <p:spPr>
          <a:xfrm xmlns:a="http://schemas.openxmlformats.org/drawingml/2006/main">
            <a:off x="3286125" y="5724525"/>
            <a:ext cx="953" cy="953"/>
          </a:xfrm>
          <a:prstGeom xmlns:a="http://schemas.openxmlformats.org/drawingml/2006/main" prst="rect">
            <a:avLst/>
          </a:prstGeom>
          <a:noFill xmlns:a="http://schemas.openxmlformats.org/drawingml/2006/main"/>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7D181E10-565E-4136-A5E4-084C6BFC4E95}"/>
              </a:ext>
            </a:extLst>
          </p:cNvPr>
          <p:cNvSpPr>
            <a:spLocks xmlns:a="http://schemas.openxmlformats.org/drawingml/2006/main" noGrp="1"/>
          </p:cNvSpPr>
          <p:nvPr/>
        </p:nvSpPr>
        <p:spPr>
          <a:xfrm xmlns:a="http://schemas.openxmlformats.org/drawingml/2006/main">
            <a:off x="5781675" y="57245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22" name=""/>
          <p:cNvCxnSpPr>
            <a:stCxn xmlns:a="http://schemas.openxmlformats.org/drawingml/2006/main" id="92" idx="3"/>
            <a:endCxn xmlns:a="http://schemas.openxmlformats.org/drawingml/2006/main" id="93" idx="1"/>
          </p:cNvCxnSpPr>
          <p:nvPr/>
        </p:nvCxnSpPr>
        <p:spPr>
          <a:xfrm xmlns:a="http://schemas.openxmlformats.org/drawingml/2006/main">
            <a:off x="3287078" y="5725002"/>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5" name="">
            <a:extLst xmlns:a="http://schemas.openxmlformats.org/drawingml/2006/main">
              <a:ext uri="{FF2B5EF4-FFF2-40B4-BE49-F238E27FC236}">
                <a16:creationId xmlns:a16="http://schemas.microsoft.com/office/drawing/2014/main" id="{E8A3F8D4-B89C-4FE1-8BF7-D67CDD3D7F63}"/>
              </a:ext>
            </a:extLst>
          </p:cNvPr>
          <p:cNvSpPr>
            <a:spLocks xmlns:a="http://schemas.openxmlformats.org/drawingml/2006/main" noGrp="1"/>
          </p:cNvSpPr>
          <p:nvPr/>
        </p:nvSpPr>
        <p:spPr>
          <a:xfrm xmlns:a="http://schemas.openxmlformats.org/drawingml/2006/main">
            <a:off x="3371850" y="5457825"/>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Location / delivery events</a:t>
            </a:r>
          </a:p>
        </p:txBody>
      </p:sp>
      <p:sp>
        <p:nvSpPr>
          <p:cNvPr id="96" name="">
            <a:extLst xmlns:a="http://schemas.openxmlformats.org/drawingml/2006/main">
              <a:ext uri="{FF2B5EF4-FFF2-40B4-BE49-F238E27FC236}">
                <a16:creationId xmlns:a16="http://schemas.microsoft.com/office/drawing/2014/main" id="{CE3F1C46-650E-4B68-A010-21646B7B41D0}"/>
              </a:ext>
            </a:extLst>
          </p:cNvPr>
          <p:cNvSpPr>
            <a:spLocks xmlns:a="http://schemas.openxmlformats.org/drawingml/2006/main" noGrp="1"/>
          </p:cNvSpPr>
          <p:nvPr/>
        </p:nvSpPr>
        <p:spPr>
          <a:xfrm xmlns:a="http://schemas.openxmlformats.org/drawingml/2006/main">
            <a:off x="5781675" y="6029325"/>
            <a:ext cx="953" cy="953"/>
          </a:xfrm>
          <a:prstGeom xmlns:a="http://schemas.openxmlformats.org/drawingml/2006/main" prst="rect">
            <a:avLst/>
          </a:prstGeom>
          <a:noFill xmlns:a="http://schemas.openxmlformats.org/drawingml/2006/main"/>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9E487881-D1E6-40A8-A3E5-E5B41393D226}"/>
              </a:ext>
            </a:extLst>
          </p:cNvPr>
          <p:cNvSpPr>
            <a:spLocks xmlns:a="http://schemas.openxmlformats.org/drawingml/2006/main" noGrp="1"/>
          </p:cNvSpPr>
          <p:nvPr/>
        </p:nvSpPr>
        <p:spPr>
          <a:xfrm xmlns:a="http://schemas.openxmlformats.org/drawingml/2006/main">
            <a:off x="3286125" y="60293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26" name=""/>
          <p:cNvCxnSpPr>
            <a:stCxn xmlns:a="http://schemas.openxmlformats.org/drawingml/2006/main" id="96" idx="3"/>
            <a:endCxn xmlns:a="http://schemas.openxmlformats.org/drawingml/2006/main" id="97" idx="1"/>
          </p:cNvCxnSpPr>
          <p:nvPr/>
        </p:nvCxnSpPr>
        <p:spPr>
          <a:xfrm xmlns:a="http://schemas.openxmlformats.org/drawingml/2006/main" flipH="1">
            <a:off x="3286125" y="6029802"/>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9" name="">
            <a:extLst xmlns:a="http://schemas.openxmlformats.org/drawingml/2006/main">
              <a:ext uri="{FF2B5EF4-FFF2-40B4-BE49-F238E27FC236}">
                <a16:creationId xmlns:a16="http://schemas.microsoft.com/office/drawing/2014/main" id="{86466DF1-B780-42B2-BF6D-875530DAC21C}"/>
              </a:ext>
            </a:extLst>
          </p:cNvPr>
          <p:cNvSpPr>
            <a:spLocks xmlns:a="http://schemas.openxmlformats.org/drawingml/2006/main" noGrp="1"/>
          </p:cNvSpPr>
          <p:nvPr/>
        </p:nvSpPr>
        <p:spPr>
          <a:xfrm xmlns:a="http://schemas.openxmlformats.org/drawingml/2006/main">
            <a:off x="3352800" y="60388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Route / ETA / status</a:t>
            </a:r>
          </a:p>
        </p:txBody>
      </p:sp>
      <p:sp>
        <p:nvSpPr>
          <p:cNvPr id="100" name="">
            <a:extLst xmlns:a="http://schemas.openxmlformats.org/drawingml/2006/main">
              <a:ext uri="{FF2B5EF4-FFF2-40B4-BE49-F238E27FC236}">
                <a16:creationId xmlns:a16="http://schemas.microsoft.com/office/drawing/2014/main" id="{5085FB7E-D948-4A43-A3A9-316D0A218952}"/>
              </a:ext>
            </a:extLst>
          </p:cNvPr>
          <p:cNvSpPr>
            <a:spLocks xmlns:a="http://schemas.openxmlformats.org/drawingml/2006/main" noGrp="1"/>
          </p:cNvSpPr>
          <p:nvPr/>
        </p:nvSpPr>
        <p:spPr>
          <a:xfrm xmlns:a="http://schemas.openxmlformats.org/drawingml/2006/main">
            <a:off x="9401175" y="5724525"/>
            <a:ext cx="953" cy="953"/>
          </a:xfrm>
          <a:prstGeom xmlns:a="http://schemas.openxmlformats.org/drawingml/2006/main" prst="rect">
            <a:avLst/>
          </a:prstGeom>
          <a:noFill xmlns:a="http://schemas.openxmlformats.org/drawingml/2006/main"/>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D6F8FAD2-F94D-448D-B035-56739A9374C8}"/>
              </a:ext>
            </a:extLst>
          </p:cNvPr>
          <p:cNvSpPr>
            <a:spLocks xmlns:a="http://schemas.openxmlformats.org/drawingml/2006/main" noGrp="1"/>
          </p:cNvSpPr>
          <p:nvPr/>
        </p:nvSpPr>
        <p:spPr>
          <a:xfrm xmlns:a="http://schemas.openxmlformats.org/drawingml/2006/main">
            <a:off x="11782425" y="57245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30" name=""/>
          <p:cNvCxnSpPr>
            <a:stCxn xmlns:a="http://schemas.openxmlformats.org/drawingml/2006/main" id="100" idx="3"/>
            <a:endCxn xmlns:a="http://schemas.openxmlformats.org/drawingml/2006/main" id="101" idx="1"/>
          </p:cNvCxnSpPr>
          <p:nvPr/>
        </p:nvCxnSpPr>
        <p:spPr>
          <a:xfrm xmlns:a="http://schemas.openxmlformats.org/drawingml/2006/main">
            <a:off x="9402128" y="5725002"/>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03" name="">
            <a:extLst xmlns:a="http://schemas.openxmlformats.org/drawingml/2006/main">
              <a:ext uri="{FF2B5EF4-FFF2-40B4-BE49-F238E27FC236}">
                <a16:creationId xmlns:a16="http://schemas.microsoft.com/office/drawing/2014/main" id="{DD23BEDC-74B4-4567-8CA6-88136BF8C5CC}"/>
              </a:ext>
            </a:extLst>
          </p:cNvPr>
          <p:cNvSpPr>
            <a:spLocks xmlns:a="http://schemas.openxmlformats.org/drawingml/2006/main" noGrp="1"/>
          </p:cNvSpPr>
          <p:nvPr/>
        </p:nvSpPr>
        <p:spPr>
          <a:xfrm xmlns:a="http://schemas.openxmlformats.org/drawingml/2006/main">
            <a:off x="9639300" y="5457825"/>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104" name="">
            <a:extLst xmlns:a="http://schemas.openxmlformats.org/drawingml/2006/main">
              <a:ext uri="{FF2B5EF4-FFF2-40B4-BE49-F238E27FC236}">
                <a16:creationId xmlns:a16="http://schemas.microsoft.com/office/drawing/2014/main" id="{71396D13-A030-415B-AC43-E9E4C79EDC3B}"/>
              </a:ext>
            </a:extLst>
          </p:cNvPr>
          <p:cNvSpPr>
            <a:spLocks xmlns:a="http://schemas.openxmlformats.org/drawingml/2006/main" noGrp="1"/>
          </p:cNvSpPr>
          <p:nvPr/>
        </p:nvSpPr>
        <p:spPr>
          <a:xfrm xmlns:a="http://schemas.openxmlformats.org/drawingml/2006/main">
            <a:off x="11782425" y="6029325"/>
            <a:ext cx="953" cy="953"/>
          </a:xfrm>
          <a:prstGeom xmlns:a="http://schemas.openxmlformats.org/drawingml/2006/main" prst="rect">
            <a:avLst/>
          </a:prstGeom>
          <a:noFill xmlns:a="http://schemas.openxmlformats.org/drawingml/2006/main"/>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5DE78591-C179-4A49-9E0F-853611FCD50F}"/>
              </a:ext>
            </a:extLst>
          </p:cNvPr>
          <p:cNvSpPr>
            <a:spLocks xmlns:a="http://schemas.openxmlformats.org/drawingml/2006/main" noGrp="1"/>
          </p:cNvSpPr>
          <p:nvPr/>
        </p:nvSpPr>
        <p:spPr>
          <a:xfrm xmlns:a="http://schemas.openxmlformats.org/drawingml/2006/main">
            <a:off x="9401175" y="60293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34" name=""/>
          <p:cNvCxnSpPr>
            <a:stCxn xmlns:a="http://schemas.openxmlformats.org/drawingml/2006/main" id="104" idx="3"/>
            <a:endCxn xmlns:a="http://schemas.openxmlformats.org/drawingml/2006/main" id="105" idx="1"/>
          </p:cNvCxnSpPr>
          <p:nvPr/>
        </p:nvCxnSpPr>
        <p:spPr>
          <a:xfrm xmlns:a="http://schemas.openxmlformats.org/drawingml/2006/main" flipH="1">
            <a:off x="9401175" y="6029802"/>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07" name="">
            <a:extLst xmlns:a="http://schemas.openxmlformats.org/drawingml/2006/main">
              <a:ext uri="{FF2B5EF4-FFF2-40B4-BE49-F238E27FC236}">
                <a16:creationId xmlns:a16="http://schemas.microsoft.com/office/drawing/2014/main" id="{2B9785BB-C6D2-46D7-B1F3-F01CAA6C1022}"/>
              </a:ext>
            </a:extLst>
          </p:cNvPr>
          <p:cNvSpPr>
            <a:spLocks xmlns:a="http://schemas.openxmlformats.org/drawingml/2006/main" noGrp="1"/>
          </p:cNvSpPr>
          <p:nvPr/>
        </p:nvSpPr>
        <p:spPr>
          <a:xfrm xmlns:a="http://schemas.openxmlformats.org/drawingml/2006/main">
            <a:off x="9591675" y="6038850"/>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108" name="">
            <a:extLst xmlns:a="http://schemas.openxmlformats.org/drawingml/2006/main">
              <a:ext uri="{FF2B5EF4-FFF2-40B4-BE49-F238E27FC236}">
                <a16:creationId xmlns:a16="http://schemas.microsoft.com/office/drawing/2014/main" id="{2F48A616-431D-4DF8-8AB5-6F8ED7BB3845}"/>
              </a:ext>
            </a:extLst>
          </p:cNvPr>
          <p:cNvSpPr>
            <a:spLocks xmlns:a="http://schemas.openxmlformats.org/drawingml/2006/main" noGrp="1"/>
          </p:cNvSpPr>
          <p:nvPr/>
        </p:nvSpPr>
        <p:spPr>
          <a:xfrm xmlns:a="http://schemas.openxmlformats.org/drawingml/2006/main">
            <a:off x="619125" y="6400800"/>
            <a:ext cx="26670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15334B"/>
                </a:solidFill>
                <a:latin typeface="Arial"/>
                <a:ea typeface="Arial"/>
                <a:cs typeface="Arial"/>
              </a:defRPr>
            </a:pPr>
            <a:r>
              <a:rPr sz="1575">
                <a:solidFill>
                  <a:srgbClr val="15334B"/>
                </a:solidFill>
                <a:latin typeface="Arial"/>
                <a:ea typeface="Arial"/>
                <a:cs typeface="Arial"/>
              </a:rPr>
              <a:t>Business / Admin</a:t>
            </a:r>
          </a:p>
        </p:txBody>
      </p:sp>
      <p:sp>
        <p:nvSpPr>
          <p:cNvPr id="109" name="">
            <a:extLst xmlns:a="http://schemas.openxmlformats.org/drawingml/2006/main">
              <a:ext uri="{FF2B5EF4-FFF2-40B4-BE49-F238E27FC236}">
                <a16:creationId xmlns:a16="http://schemas.microsoft.com/office/drawing/2014/main" id="{F849ADD0-9DF7-483F-B677-5A8F55D5586F}"/>
              </a:ext>
            </a:extLst>
          </p:cNvPr>
          <p:cNvSpPr>
            <a:spLocks xmlns:a="http://schemas.openxmlformats.org/drawingml/2006/main" noGrp="1"/>
          </p:cNvSpPr>
          <p:nvPr/>
        </p:nvSpPr>
        <p:spPr>
          <a:xfrm xmlns:a="http://schemas.openxmlformats.org/drawingml/2006/main">
            <a:off x="5781675" y="6400800"/>
            <a:ext cx="3619500" cy="542925"/>
          </a:xfrm>
          <a:prstGeom xmlns:a="http://schemas.openxmlformats.org/drawingml/2006/main" prst="roundRect">
            <a:avLst>
              <a:gd name="adj" fmla="val 14035"/>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6  Generate Analytics</a:t>
            </a:r>
          </a:p>
        </p:txBody>
      </p:sp>
      <p:sp>
        <p:nvSpPr>
          <p:cNvPr id="110" name="">
            <a:extLst xmlns:a="http://schemas.openxmlformats.org/drawingml/2006/main">
              <a:ext uri="{FF2B5EF4-FFF2-40B4-BE49-F238E27FC236}">
                <a16:creationId xmlns:a16="http://schemas.microsoft.com/office/drawing/2014/main" id="{E8DE6057-3219-4C91-8A28-11F0807815FA}"/>
              </a:ext>
            </a:extLst>
          </p:cNvPr>
          <p:cNvSpPr>
            <a:spLocks xmlns:a="http://schemas.openxmlformats.org/drawingml/2006/main" noGrp="1"/>
          </p:cNvSpPr>
          <p:nvPr/>
        </p:nvSpPr>
        <p:spPr>
          <a:xfrm xmlns:a="http://schemas.openxmlformats.org/drawingml/2006/main">
            <a:off x="11782425" y="6400800"/>
            <a:ext cx="2857500" cy="54292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     D7  Events</a:t>
            </a:r>
          </a:p>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111" name="">
            <a:extLst xmlns:a="http://schemas.openxmlformats.org/drawingml/2006/main">
              <a:ext uri="{FF2B5EF4-FFF2-40B4-BE49-F238E27FC236}">
                <a16:creationId xmlns:a16="http://schemas.microsoft.com/office/drawing/2014/main" id="{CE31AE61-2C69-435B-81C0-67907EE7C91F}"/>
              </a:ext>
            </a:extLst>
          </p:cNvPr>
          <p:cNvSpPr>
            <a:spLocks xmlns:a="http://schemas.openxmlformats.org/drawingml/2006/main" noGrp="1"/>
          </p:cNvSpPr>
          <p:nvPr/>
        </p:nvSpPr>
        <p:spPr>
          <a:xfrm xmlns:a="http://schemas.openxmlformats.org/drawingml/2006/main" flipV="0">
            <a:off x="11944350" y="6400800"/>
            <a:ext cx="95" cy="54292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12" name="">
            <a:extLst xmlns:a="http://schemas.openxmlformats.org/drawingml/2006/main">
              <a:ext uri="{FF2B5EF4-FFF2-40B4-BE49-F238E27FC236}">
                <a16:creationId xmlns:a16="http://schemas.microsoft.com/office/drawing/2014/main" id="{4C065269-716B-4399-AF63-A9F5BB54E8EF}"/>
              </a:ext>
            </a:extLst>
          </p:cNvPr>
          <p:cNvSpPr>
            <a:spLocks xmlns:a="http://schemas.openxmlformats.org/drawingml/2006/main" noGrp="1"/>
          </p:cNvSpPr>
          <p:nvPr/>
        </p:nvSpPr>
        <p:spPr>
          <a:xfrm xmlns:a="http://schemas.openxmlformats.org/drawingml/2006/main">
            <a:off x="3286125" y="6553200"/>
            <a:ext cx="953" cy="953"/>
          </a:xfrm>
          <a:prstGeom xmlns:a="http://schemas.openxmlformats.org/drawingml/2006/main" prst="rect">
            <a:avLst/>
          </a:prstGeom>
          <a:noFill xmlns:a="http://schemas.openxmlformats.org/drawingml/2006/main"/>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B0E3D967-B015-4E59-9164-BA494B875B49}"/>
              </a:ext>
            </a:extLst>
          </p:cNvPr>
          <p:cNvSpPr>
            <a:spLocks xmlns:a="http://schemas.openxmlformats.org/drawingml/2006/main" noGrp="1"/>
          </p:cNvSpPr>
          <p:nvPr/>
        </p:nvSpPr>
        <p:spPr>
          <a:xfrm xmlns:a="http://schemas.openxmlformats.org/drawingml/2006/main">
            <a:off x="5781675" y="65532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42" name=""/>
          <p:cNvCxnSpPr>
            <a:stCxn xmlns:a="http://schemas.openxmlformats.org/drawingml/2006/main" id="112" idx="3"/>
            <a:endCxn xmlns:a="http://schemas.openxmlformats.org/drawingml/2006/main" id="113" idx="1"/>
          </p:cNvCxnSpPr>
          <p:nvPr/>
        </p:nvCxnSpPr>
        <p:spPr>
          <a:xfrm xmlns:a="http://schemas.openxmlformats.org/drawingml/2006/main">
            <a:off x="3287078" y="6553677"/>
            <a:ext cx="24945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15" name="">
            <a:extLst xmlns:a="http://schemas.openxmlformats.org/drawingml/2006/main">
              <a:ext uri="{FF2B5EF4-FFF2-40B4-BE49-F238E27FC236}">
                <a16:creationId xmlns:a16="http://schemas.microsoft.com/office/drawing/2014/main" id="{0A8DB5DF-73B8-4C1F-9085-0CC56E7C58D4}"/>
              </a:ext>
            </a:extLst>
          </p:cNvPr>
          <p:cNvSpPr>
            <a:spLocks xmlns:a="http://schemas.openxmlformats.org/drawingml/2006/main" noGrp="1"/>
          </p:cNvSpPr>
          <p:nvPr/>
        </p:nvSpPr>
        <p:spPr>
          <a:xfrm xmlns:a="http://schemas.openxmlformats.org/drawingml/2006/main">
            <a:off x="3371850" y="62865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Report request</a:t>
            </a:r>
          </a:p>
        </p:txBody>
      </p:sp>
      <p:sp>
        <p:nvSpPr>
          <p:cNvPr id="116" name="">
            <a:extLst xmlns:a="http://schemas.openxmlformats.org/drawingml/2006/main">
              <a:ext uri="{FF2B5EF4-FFF2-40B4-BE49-F238E27FC236}">
                <a16:creationId xmlns:a16="http://schemas.microsoft.com/office/drawing/2014/main" id="{0F156CB1-E24B-4C46-9701-46FAFF326283}"/>
              </a:ext>
            </a:extLst>
          </p:cNvPr>
          <p:cNvSpPr>
            <a:spLocks xmlns:a="http://schemas.openxmlformats.org/drawingml/2006/main" noGrp="1"/>
          </p:cNvSpPr>
          <p:nvPr/>
        </p:nvSpPr>
        <p:spPr>
          <a:xfrm xmlns:a="http://schemas.openxmlformats.org/drawingml/2006/main">
            <a:off x="5781675" y="6858000"/>
            <a:ext cx="953" cy="953"/>
          </a:xfrm>
          <a:prstGeom xmlns:a="http://schemas.openxmlformats.org/drawingml/2006/main" prst="rect">
            <a:avLst/>
          </a:prstGeom>
          <a:noFill xmlns:a="http://schemas.openxmlformats.org/drawingml/2006/main"/>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E094CF14-A3F1-4504-8C63-EB3A63471C2F}"/>
              </a:ext>
            </a:extLst>
          </p:cNvPr>
          <p:cNvSpPr>
            <a:spLocks xmlns:a="http://schemas.openxmlformats.org/drawingml/2006/main" noGrp="1"/>
          </p:cNvSpPr>
          <p:nvPr/>
        </p:nvSpPr>
        <p:spPr>
          <a:xfrm xmlns:a="http://schemas.openxmlformats.org/drawingml/2006/main">
            <a:off x="3286125" y="68580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46" name=""/>
          <p:cNvCxnSpPr>
            <a:stCxn xmlns:a="http://schemas.openxmlformats.org/drawingml/2006/main" id="116" idx="3"/>
            <a:endCxn xmlns:a="http://schemas.openxmlformats.org/drawingml/2006/main" id="117" idx="1"/>
          </p:cNvCxnSpPr>
          <p:nvPr/>
        </p:nvCxnSpPr>
        <p:spPr>
          <a:xfrm xmlns:a="http://schemas.openxmlformats.org/drawingml/2006/main" flipH="1">
            <a:off x="3286125" y="6858477"/>
            <a:ext cx="24965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19" name="">
            <a:extLst xmlns:a="http://schemas.openxmlformats.org/drawingml/2006/main">
              <a:ext uri="{FF2B5EF4-FFF2-40B4-BE49-F238E27FC236}">
                <a16:creationId xmlns:a16="http://schemas.microsoft.com/office/drawing/2014/main" id="{BB132931-5728-4551-8698-6C75EF752EA6}"/>
              </a:ext>
            </a:extLst>
          </p:cNvPr>
          <p:cNvSpPr>
            <a:spLocks xmlns:a="http://schemas.openxmlformats.org/drawingml/2006/main" noGrp="1"/>
          </p:cNvSpPr>
          <p:nvPr/>
        </p:nvSpPr>
        <p:spPr>
          <a:xfrm xmlns:a="http://schemas.openxmlformats.org/drawingml/2006/main">
            <a:off x="3352800" y="68675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Delivery analytics</a:t>
            </a:r>
          </a:p>
        </p:txBody>
      </p:sp>
      <p:sp>
        <p:nvSpPr>
          <p:cNvPr id="120" name="">
            <a:extLst xmlns:a="http://schemas.openxmlformats.org/drawingml/2006/main">
              <a:ext uri="{FF2B5EF4-FFF2-40B4-BE49-F238E27FC236}">
                <a16:creationId xmlns:a16="http://schemas.microsoft.com/office/drawing/2014/main" id="{2825AB27-4A95-400E-9EF7-48C3795B1CA2}"/>
              </a:ext>
            </a:extLst>
          </p:cNvPr>
          <p:cNvSpPr>
            <a:spLocks xmlns:a="http://schemas.openxmlformats.org/drawingml/2006/main" noGrp="1"/>
          </p:cNvSpPr>
          <p:nvPr/>
        </p:nvSpPr>
        <p:spPr>
          <a:xfrm xmlns:a="http://schemas.openxmlformats.org/drawingml/2006/main">
            <a:off x="9401175" y="6553200"/>
            <a:ext cx="953" cy="953"/>
          </a:xfrm>
          <a:prstGeom xmlns:a="http://schemas.openxmlformats.org/drawingml/2006/main" prst="rect">
            <a:avLst/>
          </a:prstGeom>
          <a:noFill xmlns:a="http://schemas.openxmlformats.org/drawingml/2006/main"/>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A1744883-DD11-43F5-AB3B-883C80F74D62}"/>
              </a:ext>
            </a:extLst>
          </p:cNvPr>
          <p:cNvSpPr>
            <a:spLocks xmlns:a="http://schemas.openxmlformats.org/drawingml/2006/main" noGrp="1"/>
          </p:cNvSpPr>
          <p:nvPr/>
        </p:nvSpPr>
        <p:spPr>
          <a:xfrm xmlns:a="http://schemas.openxmlformats.org/drawingml/2006/main">
            <a:off x="11782425" y="65532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50" name=""/>
          <p:cNvCxnSpPr>
            <a:stCxn xmlns:a="http://schemas.openxmlformats.org/drawingml/2006/main" id="120" idx="3"/>
            <a:endCxn xmlns:a="http://schemas.openxmlformats.org/drawingml/2006/main" id="121" idx="1"/>
          </p:cNvCxnSpPr>
          <p:nvPr/>
        </p:nvCxnSpPr>
        <p:spPr>
          <a:xfrm xmlns:a="http://schemas.openxmlformats.org/drawingml/2006/main">
            <a:off x="9402128" y="6553677"/>
            <a:ext cx="2380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23" name="">
            <a:extLst xmlns:a="http://schemas.openxmlformats.org/drawingml/2006/main">
              <a:ext uri="{FF2B5EF4-FFF2-40B4-BE49-F238E27FC236}">
                <a16:creationId xmlns:a16="http://schemas.microsoft.com/office/drawing/2014/main" id="{73BADB48-536B-48E1-B2C1-FCFC53151218}"/>
              </a:ext>
            </a:extLst>
          </p:cNvPr>
          <p:cNvSpPr>
            <a:spLocks xmlns:a="http://schemas.openxmlformats.org/drawingml/2006/main" noGrp="1"/>
          </p:cNvSpPr>
          <p:nvPr/>
        </p:nvSpPr>
        <p:spPr>
          <a:xfrm xmlns:a="http://schemas.openxmlformats.org/drawingml/2006/main">
            <a:off x="9639300" y="6286500"/>
            <a:ext cx="2047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Stored records</a:t>
            </a:r>
          </a:p>
        </p:txBody>
      </p:sp>
      <p:sp>
        <p:nvSpPr>
          <p:cNvPr id="124" name="">
            <a:extLst xmlns:a="http://schemas.openxmlformats.org/drawingml/2006/main">
              <a:ext uri="{FF2B5EF4-FFF2-40B4-BE49-F238E27FC236}">
                <a16:creationId xmlns:a16="http://schemas.microsoft.com/office/drawing/2014/main" id="{AEDA51A3-9B56-4071-AC35-A0FF78DB7F5F}"/>
              </a:ext>
            </a:extLst>
          </p:cNvPr>
          <p:cNvSpPr>
            <a:spLocks xmlns:a="http://schemas.openxmlformats.org/drawingml/2006/main" noGrp="1"/>
          </p:cNvSpPr>
          <p:nvPr/>
        </p:nvSpPr>
        <p:spPr>
          <a:xfrm xmlns:a="http://schemas.openxmlformats.org/drawingml/2006/main">
            <a:off x="11782425" y="6858000"/>
            <a:ext cx="953" cy="953"/>
          </a:xfrm>
          <a:prstGeom xmlns:a="http://schemas.openxmlformats.org/drawingml/2006/main" prst="rect">
            <a:avLst/>
          </a:prstGeom>
          <a:noFill xmlns:a="http://schemas.openxmlformats.org/drawingml/2006/main"/>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64AB050D-6938-4954-B5F4-5432D2B8FED2}"/>
              </a:ext>
            </a:extLst>
          </p:cNvPr>
          <p:cNvSpPr>
            <a:spLocks xmlns:a="http://schemas.openxmlformats.org/drawingml/2006/main" noGrp="1"/>
          </p:cNvSpPr>
          <p:nvPr/>
        </p:nvSpPr>
        <p:spPr>
          <a:xfrm xmlns:a="http://schemas.openxmlformats.org/drawingml/2006/main">
            <a:off x="9401175" y="68580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54" name=""/>
          <p:cNvCxnSpPr>
            <a:stCxn xmlns:a="http://schemas.openxmlformats.org/drawingml/2006/main" id="124" idx="3"/>
            <a:endCxn xmlns:a="http://schemas.openxmlformats.org/drawingml/2006/main" id="125" idx="1"/>
          </p:cNvCxnSpPr>
          <p:nvPr/>
        </p:nvCxnSpPr>
        <p:spPr>
          <a:xfrm xmlns:a="http://schemas.openxmlformats.org/drawingml/2006/main" flipH="1">
            <a:off x="9401175" y="6858477"/>
            <a:ext cx="23822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27" name="">
            <a:extLst xmlns:a="http://schemas.openxmlformats.org/drawingml/2006/main">
              <a:ext uri="{FF2B5EF4-FFF2-40B4-BE49-F238E27FC236}">
                <a16:creationId xmlns:a16="http://schemas.microsoft.com/office/drawing/2014/main" id="{344837D6-F2F2-41ED-8880-F1AD21346FF8}"/>
              </a:ext>
            </a:extLst>
          </p:cNvPr>
          <p:cNvSpPr>
            <a:spLocks xmlns:a="http://schemas.openxmlformats.org/drawingml/2006/main" noGrp="1"/>
          </p:cNvSpPr>
          <p:nvPr/>
        </p:nvSpPr>
        <p:spPr>
          <a:xfrm xmlns:a="http://schemas.openxmlformats.org/drawingml/2006/main">
            <a:off x="9591675" y="686752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15334B"/>
                </a:solidFill>
                <a:latin typeface="Arial"/>
                <a:ea typeface="Arial"/>
                <a:cs typeface="Arial"/>
              </a:defRPr>
            </a:pPr>
            <a:r>
              <a:rPr sz="1350" b="0">
                <a:solidFill>
                  <a:srgbClr val="15334B"/>
                </a:solidFill>
                <a:latin typeface="Arial"/>
                <a:ea typeface="Arial"/>
                <a:cs typeface="Arial"/>
              </a:rPr>
              <a:t>Retrieved records</a:t>
            </a:r>
          </a:p>
        </p:txBody>
      </p:sp>
      <p:sp>
        <p:nvSpPr>
          <p:cNvPr id="128" name="">
            <a:extLst xmlns:a="http://schemas.openxmlformats.org/drawingml/2006/main">
              <a:ext uri="{FF2B5EF4-FFF2-40B4-BE49-F238E27FC236}">
                <a16:creationId xmlns:a16="http://schemas.microsoft.com/office/drawing/2014/main" id="{88974BE7-C7FC-4A47-9EBE-4F57F1884C3A}"/>
              </a:ext>
            </a:extLst>
          </p:cNvPr>
          <p:cNvSpPr>
            <a:spLocks xmlns:a="http://schemas.openxmlformats.org/drawingml/2006/main" noGrp="1"/>
          </p:cNvSpPr>
          <p:nvPr/>
        </p:nvSpPr>
        <p:spPr>
          <a:xfrm xmlns:a="http://schemas.openxmlformats.org/drawingml/2006/main">
            <a:off x="619125" y="7372350"/>
            <a:ext cx="14001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26E80"/>
                </a:solidFill>
                <a:latin typeface="Arial"/>
                <a:ea typeface="Arial"/>
                <a:cs typeface="Arial"/>
              </a:defRPr>
            </a:pPr>
            <a:r>
              <a:rPr sz="1575" b="0">
                <a:solidFill>
                  <a:srgbClr val="526E80"/>
                </a:solidFill>
                <a:latin typeface="Arial"/>
                <a:ea typeface="Arial"/>
                <a:cs typeface="Arial"/>
              </a:rPr>
              <a:t>Internal flows: 1 + 2 supply delivery data to 3. 3 sends valid inputs to 4. 4 sends route plans to 5.</a:t>
            </a:r>
          </a:p>
          <a:p xmlns:a="http://schemas.openxmlformats.org/drawingml/2006/main">
            <a:pPr algn="l">
              <a:defRPr sz="1575" b="0">
                <a:solidFill>
                  <a:srgbClr val="526E80"/>
                </a:solidFill>
                <a:latin typeface="Arial"/>
                <a:ea typeface="Arial"/>
                <a:cs typeface="Arial"/>
              </a:defRPr>
            </a:pPr>
            <a:r>
              <a:rPr sz="1575" b="0">
                <a:solidFill>
                  <a:srgbClr val="526E80"/>
                </a:solidFill>
                <a:latin typeface="Arial"/>
                <a:ea typeface="Arial"/>
                <a:cs typeface="Arial"/>
              </a:rPr>
              <a:t>5 sends changed delivery data to 4 for replanning. 6 reads route, event and optimization records.</a:t>
            </a:r>
          </a:p>
        </p:txBody>
      </p:sp>
    </p:spTree>
    <p:extLst>
      <p:ext uri="{BB962C8B-B14F-4D97-AF65-F5344CB8AC3E}">
        <p14:creationId xmlns:p14="http://schemas.microsoft.com/office/powerpoint/2010/main" val="1906388732"/>
      </p:ext>
    </p:extLst>
  </p:cSld>
</p:sld>
</file>

<file path=ppt/slides/slide5.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92" name="">
            <a:extLst xmlns:a="http://schemas.openxmlformats.org/drawingml/2006/main">
              <a:ext uri="{FF2B5EF4-FFF2-40B4-BE49-F238E27FC236}">
                <a16:creationId xmlns:a16="http://schemas.microsoft.com/office/drawing/2014/main" id="{165E1B6B-25E8-4BCD-83F8-744BC3017952}"/>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DFD Level 2: Optimize Routes</a:t>
            </a:r>
          </a:p>
        </p:txBody>
      </p:sp>
      <p:sp>
        <p:nvSpPr>
          <p:cNvPr id="2" name="">
            <a:extLst xmlns:a="http://schemas.openxmlformats.org/drawingml/2006/main">
              <a:ext uri="{FF2B5EF4-FFF2-40B4-BE49-F238E27FC236}">
                <a16:creationId xmlns:a16="http://schemas.microsoft.com/office/drawing/2014/main" id="{D4363718-6FDA-4897-9521-D392F2A7BD4F}"/>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Process 4 transforms validated delivery data into a feasible route plan and run metrics.</a:t>
            </a:r>
          </a:p>
        </p:txBody>
      </p:sp>
      <p:sp>
        <p:nvSpPr>
          <p:cNvPr id="3" name="">
            <a:extLst xmlns:a="http://schemas.openxmlformats.org/drawingml/2006/main">
              <a:ext uri="{FF2B5EF4-FFF2-40B4-BE49-F238E27FC236}">
                <a16:creationId xmlns:a16="http://schemas.microsoft.com/office/drawing/2014/main" id="{ABF4FFD2-A95B-4DBB-A8DF-A6058CC95934}"/>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FF5B140C-7DE9-485E-A271-D50660176998}"/>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035633B-9145-4D04-A648-8B00E9B1BCEF}"/>
              </a:ext>
            </a:extLst>
          </p:cNvPr>
          <p:cNvSpPr>
            <a:spLocks xmlns:a="http://schemas.openxmlformats.org/drawingml/2006/main" noGrp="1"/>
          </p:cNvSpPr>
          <p:nvPr/>
        </p:nvSpPr>
        <p:spPr>
          <a:xfrm xmlns:a="http://schemas.openxmlformats.org/drawingml/2006/main">
            <a:off x="619125"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D2  Orders</a:t>
            </a:r>
          </a:p>
        </p:txBody>
      </p:sp>
      <p:sp>
        <p:nvSpPr>
          <p:cNvPr id="6" name="">
            <a:extLst xmlns:a="http://schemas.openxmlformats.org/drawingml/2006/main">
              <a:ext uri="{FF2B5EF4-FFF2-40B4-BE49-F238E27FC236}">
                <a16:creationId xmlns:a16="http://schemas.microsoft.com/office/drawing/2014/main" id="{B0B5BAC7-7E8A-4695-A1A6-151D280B5B4F}"/>
              </a:ext>
            </a:extLst>
          </p:cNvPr>
          <p:cNvSpPr>
            <a:spLocks xmlns:a="http://schemas.openxmlformats.org/drawingml/2006/main" noGrp="1"/>
          </p:cNvSpPr>
          <p:nvPr/>
        </p:nvSpPr>
        <p:spPr>
          <a:xfrm xmlns:a="http://schemas.openxmlformats.org/drawingml/2006/main" flipV="0">
            <a:off x="781050"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7" name="">
            <a:extLst xmlns:a="http://schemas.openxmlformats.org/drawingml/2006/main">
              <a:ext uri="{FF2B5EF4-FFF2-40B4-BE49-F238E27FC236}">
                <a16:creationId xmlns:a16="http://schemas.microsoft.com/office/drawing/2014/main" id="{F998EDDC-CFC7-4C12-B621-1437A3ECDD9B}"/>
              </a:ext>
            </a:extLst>
          </p:cNvPr>
          <p:cNvSpPr>
            <a:spLocks xmlns:a="http://schemas.openxmlformats.org/drawingml/2006/main" noGrp="1"/>
          </p:cNvSpPr>
          <p:nvPr/>
        </p:nvSpPr>
        <p:spPr>
          <a:xfrm xmlns:a="http://schemas.openxmlformats.org/drawingml/2006/main">
            <a:off x="4248150"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D3  Vehicles / D4  Drivers</a:t>
            </a:r>
          </a:p>
        </p:txBody>
      </p:sp>
      <p:sp>
        <p:nvSpPr>
          <p:cNvPr id="8" name="">
            <a:extLst xmlns:a="http://schemas.openxmlformats.org/drawingml/2006/main">
              <a:ext uri="{FF2B5EF4-FFF2-40B4-BE49-F238E27FC236}">
                <a16:creationId xmlns:a16="http://schemas.microsoft.com/office/drawing/2014/main" id="{D645AAA0-F14D-4651-8B40-6CD7761B7ACF}"/>
              </a:ext>
            </a:extLst>
          </p:cNvPr>
          <p:cNvSpPr>
            <a:spLocks xmlns:a="http://schemas.openxmlformats.org/drawingml/2006/main" noGrp="1"/>
          </p:cNvSpPr>
          <p:nvPr/>
        </p:nvSpPr>
        <p:spPr>
          <a:xfrm xmlns:a="http://schemas.openxmlformats.org/drawingml/2006/main" flipV="0">
            <a:off x="4410075"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9" name="">
            <a:extLst xmlns:a="http://schemas.openxmlformats.org/drawingml/2006/main">
              <a:ext uri="{FF2B5EF4-FFF2-40B4-BE49-F238E27FC236}">
                <a16:creationId xmlns:a16="http://schemas.microsoft.com/office/drawing/2014/main" id="{1B779457-7A27-4E34-AAD4-809F64C4EA6C}"/>
              </a:ext>
            </a:extLst>
          </p:cNvPr>
          <p:cNvSpPr>
            <a:spLocks xmlns:a="http://schemas.openxmlformats.org/drawingml/2006/main" noGrp="1"/>
          </p:cNvSpPr>
          <p:nvPr/>
        </p:nvSpPr>
        <p:spPr>
          <a:xfrm xmlns:a="http://schemas.openxmlformats.org/drawingml/2006/main">
            <a:off x="7858125" y="1819275"/>
            <a:ext cx="2952750" cy="51435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D6  Locations</a:t>
            </a:r>
          </a:p>
        </p:txBody>
      </p:sp>
      <p:sp>
        <p:nvSpPr>
          <p:cNvPr id="10" name="">
            <a:extLst xmlns:a="http://schemas.openxmlformats.org/drawingml/2006/main">
              <a:ext uri="{FF2B5EF4-FFF2-40B4-BE49-F238E27FC236}">
                <a16:creationId xmlns:a16="http://schemas.microsoft.com/office/drawing/2014/main" id="{898AFD44-1DF5-422B-9C5E-575194549582}"/>
              </a:ext>
            </a:extLst>
          </p:cNvPr>
          <p:cNvSpPr>
            <a:spLocks xmlns:a="http://schemas.openxmlformats.org/drawingml/2006/main" noGrp="1"/>
          </p:cNvSpPr>
          <p:nvPr/>
        </p:nvSpPr>
        <p:spPr>
          <a:xfrm xmlns:a="http://schemas.openxmlformats.org/drawingml/2006/main" flipV="0">
            <a:off x="8020050" y="1819275"/>
            <a:ext cx="95" cy="514350"/>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11" name="">
            <a:extLst xmlns:a="http://schemas.openxmlformats.org/drawingml/2006/main">
              <a:ext uri="{FF2B5EF4-FFF2-40B4-BE49-F238E27FC236}">
                <a16:creationId xmlns:a16="http://schemas.microsoft.com/office/drawing/2014/main" id="{60B37788-1486-4CC2-B0BD-E822191520B0}"/>
              </a:ext>
            </a:extLst>
          </p:cNvPr>
          <p:cNvSpPr>
            <a:spLocks xmlns:a="http://schemas.openxmlformats.org/drawingml/2006/main" noGrp="1"/>
          </p:cNvSpPr>
          <p:nvPr/>
        </p:nvSpPr>
        <p:spPr>
          <a:xfrm xmlns:a="http://schemas.openxmlformats.org/drawingml/2006/main">
            <a:off x="11477625" y="1819275"/>
            <a:ext cx="3143250" cy="514350"/>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15334B"/>
                </a:solidFill>
                <a:latin typeface="Arial"/>
                <a:ea typeface="Arial"/>
                <a:cs typeface="Arial"/>
              </a:defRPr>
            </a:pPr>
            <a:r>
              <a:rPr sz="1725">
                <a:solidFill>
                  <a:srgbClr val="15334B"/>
                </a:solidFill>
                <a:latin typeface="Arial"/>
                <a:ea typeface="Arial"/>
                <a:cs typeface="Arial"/>
              </a:rPr>
              <a:t>Map / Routing API</a:t>
            </a:r>
          </a:p>
        </p:txBody>
      </p:sp>
      <p:sp>
        <p:nvSpPr>
          <p:cNvPr id="12" name="">
            <a:extLst xmlns:a="http://schemas.openxmlformats.org/drawingml/2006/main">
              <a:ext uri="{FF2B5EF4-FFF2-40B4-BE49-F238E27FC236}">
                <a16:creationId xmlns:a16="http://schemas.microsoft.com/office/drawing/2014/main" id="{51D983ED-9666-4F47-A0A8-D6C716DFCE77}"/>
              </a:ext>
            </a:extLst>
          </p:cNvPr>
          <p:cNvSpPr>
            <a:spLocks xmlns:a="http://schemas.openxmlformats.org/drawingml/2006/main" noGrp="1"/>
          </p:cNvSpPr>
          <p:nvPr/>
        </p:nvSpPr>
        <p:spPr>
          <a:xfrm xmlns:a="http://schemas.openxmlformats.org/drawingml/2006/main">
            <a:off x="619125"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4.1  Receive orders</a:t>
            </a:r>
          </a:p>
        </p:txBody>
      </p:sp>
      <p:sp>
        <p:nvSpPr>
          <p:cNvPr id="13" name="">
            <a:extLst xmlns:a="http://schemas.openxmlformats.org/drawingml/2006/main">
              <a:ext uri="{FF2B5EF4-FFF2-40B4-BE49-F238E27FC236}">
                <a16:creationId xmlns:a16="http://schemas.microsoft.com/office/drawing/2014/main" id="{319005A1-00C6-4D2E-9C32-E307C5D9FACE}"/>
              </a:ext>
            </a:extLst>
          </p:cNvPr>
          <p:cNvSpPr>
            <a:spLocks xmlns:a="http://schemas.openxmlformats.org/drawingml/2006/main" noGrp="1"/>
          </p:cNvSpPr>
          <p:nvPr/>
        </p:nvSpPr>
        <p:spPr>
          <a:xfrm xmlns:a="http://schemas.openxmlformats.org/drawingml/2006/main">
            <a:off x="4248150"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4.2  Retrieve constraints</a:t>
            </a:r>
          </a:p>
        </p:txBody>
      </p:sp>
      <p:sp>
        <p:nvSpPr>
          <p:cNvPr id="14" name="">
            <a:extLst xmlns:a="http://schemas.openxmlformats.org/drawingml/2006/main">
              <a:ext uri="{FF2B5EF4-FFF2-40B4-BE49-F238E27FC236}">
                <a16:creationId xmlns:a16="http://schemas.microsoft.com/office/drawing/2014/main" id="{01ACB442-915D-4546-9DE5-58F9A451AAFB}"/>
              </a:ext>
            </a:extLst>
          </p:cNvPr>
          <p:cNvSpPr>
            <a:spLocks xmlns:a="http://schemas.openxmlformats.org/drawingml/2006/main" noGrp="1"/>
          </p:cNvSpPr>
          <p:nvPr/>
        </p:nvSpPr>
        <p:spPr>
          <a:xfrm xmlns:a="http://schemas.openxmlformats.org/drawingml/2006/main">
            <a:off x="7858125" y="32575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4.3  Get distances</a:t>
            </a:r>
          </a:p>
        </p:txBody>
      </p:sp>
      <p:sp>
        <p:nvSpPr>
          <p:cNvPr id="15" name="">
            <a:extLst xmlns:a="http://schemas.openxmlformats.org/drawingml/2006/main">
              <a:ext uri="{FF2B5EF4-FFF2-40B4-BE49-F238E27FC236}">
                <a16:creationId xmlns:a16="http://schemas.microsoft.com/office/drawing/2014/main" id="{F10B4CB6-E112-4C22-9E13-A429DEC05F43}"/>
              </a:ext>
            </a:extLst>
          </p:cNvPr>
          <p:cNvSpPr>
            <a:spLocks xmlns:a="http://schemas.openxmlformats.org/drawingml/2006/main" noGrp="1"/>
          </p:cNvSpPr>
          <p:nvPr/>
        </p:nvSpPr>
        <p:spPr>
          <a:xfrm xmlns:a="http://schemas.openxmlformats.org/drawingml/2006/main">
            <a:off x="11477625" y="3257550"/>
            <a:ext cx="31432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4.4  Generate initial route</a:t>
            </a:r>
          </a:p>
        </p:txBody>
      </p:sp>
      <p:sp>
        <p:nvSpPr>
          <p:cNvPr id="16" name="">
            <a:extLst xmlns:a="http://schemas.openxmlformats.org/drawingml/2006/main">
              <a:ext uri="{FF2B5EF4-FFF2-40B4-BE49-F238E27FC236}">
                <a16:creationId xmlns:a16="http://schemas.microsoft.com/office/drawing/2014/main" id="{40516286-35AF-4170-81F2-53CE081F2AEF}"/>
              </a:ext>
            </a:extLst>
          </p:cNvPr>
          <p:cNvSpPr>
            <a:spLocks xmlns:a="http://schemas.openxmlformats.org/drawingml/2006/main" noGrp="1"/>
          </p:cNvSpPr>
          <p:nvPr/>
        </p:nvSpPr>
        <p:spPr>
          <a:xfrm xmlns:a="http://schemas.openxmlformats.org/drawingml/2006/main">
            <a:off x="3571875"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BA4EFE4-0BDE-4B27-AF4A-70D476DE22AE}"/>
              </a:ext>
            </a:extLst>
          </p:cNvPr>
          <p:cNvSpPr>
            <a:spLocks xmlns:a="http://schemas.openxmlformats.org/drawingml/2006/main" noGrp="1"/>
          </p:cNvSpPr>
          <p:nvPr/>
        </p:nvSpPr>
        <p:spPr>
          <a:xfrm xmlns:a="http://schemas.openxmlformats.org/drawingml/2006/main">
            <a:off x="4248150"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9" name=""/>
          <p:cNvCxnSpPr>
            <a:stCxn xmlns:a="http://schemas.openxmlformats.org/drawingml/2006/main" id="16" idx="3"/>
            <a:endCxn xmlns:a="http://schemas.openxmlformats.org/drawingml/2006/main" id="17" idx="1"/>
          </p:cNvCxnSpPr>
          <p:nvPr/>
        </p:nvCxnSpPr>
        <p:spPr>
          <a:xfrm xmlns:a="http://schemas.openxmlformats.org/drawingml/2006/main">
            <a:off x="3572828" y="3696177"/>
            <a:ext cx="675322"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9" name="">
            <a:extLst xmlns:a="http://schemas.openxmlformats.org/drawingml/2006/main">
              <a:ext uri="{FF2B5EF4-FFF2-40B4-BE49-F238E27FC236}">
                <a16:creationId xmlns:a16="http://schemas.microsoft.com/office/drawing/2014/main" id="{F7CE94D6-D9AB-4AC2-971A-6484AEB07253}"/>
              </a:ext>
            </a:extLst>
          </p:cNvPr>
          <p:cNvSpPr>
            <a:spLocks xmlns:a="http://schemas.openxmlformats.org/drawingml/2006/main" noGrp="1"/>
          </p:cNvSpPr>
          <p:nvPr/>
        </p:nvSpPr>
        <p:spPr>
          <a:xfrm xmlns:a="http://schemas.openxmlformats.org/drawingml/2006/main">
            <a:off x="3486150" y="26860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Order</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set</a:t>
            </a:r>
          </a:p>
        </p:txBody>
      </p:sp>
      <p:sp>
        <p:nvSpPr>
          <p:cNvPr id="20" name="">
            <a:extLst xmlns:a="http://schemas.openxmlformats.org/drawingml/2006/main">
              <a:ext uri="{FF2B5EF4-FFF2-40B4-BE49-F238E27FC236}">
                <a16:creationId xmlns:a16="http://schemas.microsoft.com/office/drawing/2014/main" id="{26D63A5F-61E2-42E5-B71D-2C2F9CE9FF1A}"/>
              </a:ext>
            </a:extLst>
          </p:cNvPr>
          <p:cNvSpPr>
            <a:spLocks xmlns:a="http://schemas.openxmlformats.org/drawingml/2006/main" noGrp="1"/>
          </p:cNvSpPr>
          <p:nvPr/>
        </p:nvSpPr>
        <p:spPr>
          <a:xfrm xmlns:a="http://schemas.openxmlformats.org/drawingml/2006/main">
            <a:off x="7200900"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7DD1314-D107-48D0-AB58-A390E9ACF02C}"/>
              </a:ext>
            </a:extLst>
          </p:cNvPr>
          <p:cNvSpPr>
            <a:spLocks xmlns:a="http://schemas.openxmlformats.org/drawingml/2006/main" noGrp="1"/>
          </p:cNvSpPr>
          <p:nvPr/>
        </p:nvSpPr>
        <p:spPr>
          <a:xfrm xmlns:a="http://schemas.openxmlformats.org/drawingml/2006/main">
            <a:off x="7858125"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3" name=""/>
          <p:cNvCxnSpPr>
            <a:stCxn xmlns:a="http://schemas.openxmlformats.org/drawingml/2006/main" id="20" idx="3"/>
            <a:endCxn xmlns:a="http://schemas.openxmlformats.org/drawingml/2006/main" id="21" idx="1"/>
          </p:cNvCxnSpPr>
          <p:nvPr/>
        </p:nvCxnSpPr>
        <p:spPr>
          <a:xfrm xmlns:a="http://schemas.openxmlformats.org/drawingml/2006/main">
            <a:off x="7201853" y="3696177"/>
            <a:ext cx="656272"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3" name="">
            <a:extLst xmlns:a="http://schemas.openxmlformats.org/drawingml/2006/main">
              <a:ext uri="{FF2B5EF4-FFF2-40B4-BE49-F238E27FC236}">
                <a16:creationId xmlns:a16="http://schemas.microsoft.com/office/drawing/2014/main" id="{54DE43E0-805C-4842-88B5-0118097E9D13}"/>
              </a:ext>
            </a:extLst>
          </p:cNvPr>
          <p:cNvSpPr>
            <a:spLocks xmlns:a="http://schemas.openxmlformats.org/drawingml/2006/main" noGrp="1"/>
          </p:cNvSpPr>
          <p:nvPr/>
        </p:nvSpPr>
        <p:spPr>
          <a:xfrm xmlns:a="http://schemas.openxmlformats.org/drawingml/2006/main">
            <a:off x="7115175" y="26860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Delivery</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inputs</a:t>
            </a:r>
          </a:p>
        </p:txBody>
      </p:sp>
      <p:sp>
        <p:nvSpPr>
          <p:cNvPr id="24" name="">
            <a:extLst xmlns:a="http://schemas.openxmlformats.org/drawingml/2006/main">
              <a:ext uri="{FF2B5EF4-FFF2-40B4-BE49-F238E27FC236}">
                <a16:creationId xmlns:a16="http://schemas.microsoft.com/office/drawing/2014/main" id="{FAAE8B39-E675-44FC-86CD-FB689F4F71B5}"/>
              </a:ext>
            </a:extLst>
          </p:cNvPr>
          <p:cNvSpPr>
            <a:spLocks xmlns:a="http://schemas.openxmlformats.org/drawingml/2006/main" noGrp="1"/>
          </p:cNvSpPr>
          <p:nvPr/>
        </p:nvSpPr>
        <p:spPr>
          <a:xfrm xmlns:a="http://schemas.openxmlformats.org/drawingml/2006/main">
            <a:off x="10810875" y="3695700"/>
            <a:ext cx="953" cy="953"/>
          </a:xfrm>
          <a:prstGeom xmlns:a="http://schemas.openxmlformats.org/drawingml/2006/main" prst="rect">
            <a:avLst/>
          </a:prstGeom>
          <a:noFill xmlns:a="http://schemas.openxmlformats.org/drawingml/2006/main"/>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DFF6B4C-0993-421B-A437-FC6A5BE7667F}"/>
              </a:ext>
            </a:extLst>
          </p:cNvPr>
          <p:cNvSpPr>
            <a:spLocks xmlns:a="http://schemas.openxmlformats.org/drawingml/2006/main" noGrp="1"/>
          </p:cNvSpPr>
          <p:nvPr/>
        </p:nvSpPr>
        <p:spPr>
          <a:xfrm xmlns:a="http://schemas.openxmlformats.org/drawingml/2006/main">
            <a:off x="11477625" y="3695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7" name=""/>
          <p:cNvCxnSpPr>
            <a:stCxn xmlns:a="http://schemas.openxmlformats.org/drawingml/2006/main" id="24" idx="3"/>
            <a:endCxn xmlns:a="http://schemas.openxmlformats.org/drawingml/2006/main" id="25" idx="1"/>
          </p:cNvCxnSpPr>
          <p:nvPr/>
        </p:nvCxnSpPr>
        <p:spPr>
          <a:xfrm xmlns:a="http://schemas.openxmlformats.org/drawingml/2006/main">
            <a:off x="10811828" y="3696177"/>
            <a:ext cx="6657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27" name="">
            <a:extLst xmlns:a="http://schemas.openxmlformats.org/drawingml/2006/main">
              <a:ext uri="{FF2B5EF4-FFF2-40B4-BE49-F238E27FC236}">
                <a16:creationId xmlns:a16="http://schemas.microsoft.com/office/drawing/2014/main" id="{1AEFD815-F633-40EA-95A8-3650AF57BEE3}"/>
              </a:ext>
            </a:extLst>
          </p:cNvPr>
          <p:cNvSpPr>
            <a:spLocks xmlns:a="http://schemas.openxmlformats.org/drawingml/2006/main" noGrp="1"/>
          </p:cNvSpPr>
          <p:nvPr/>
        </p:nvSpPr>
        <p:spPr>
          <a:xfrm xmlns:a="http://schemas.openxmlformats.org/drawingml/2006/main">
            <a:off x="10725150" y="26860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Travel</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matrix</a:t>
            </a:r>
          </a:p>
        </p:txBody>
      </p:sp>
      <p:sp>
        <p:nvSpPr>
          <p:cNvPr id="28" name="">
            <a:extLst xmlns:a="http://schemas.openxmlformats.org/drawingml/2006/main">
              <a:ext uri="{FF2B5EF4-FFF2-40B4-BE49-F238E27FC236}">
                <a16:creationId xmlns:a16="http://schemas.microsoft.com/office/drawing/2014/main" id="{D99ACD4A-8EF7-4E44-B1A0-E5EF0BD46BCF}"/>
              </a:ext>
            </a:extLst>
          </p:cNvPr>
          <p:cNvSpPr>
            <a:spLocks xmlns:a="http://schemas.openxmlformats.org/drawingml/2006/main" noGrp="1"/>
          </p:cNvSpPr>
          <p:nvPr/>
        </p:nvSpPr>
        <p:spPr>
          <a:xfrm xmlns:a="http://schemas.openxmlformats.org/drawingml/2006/main">
            <a:off x="2095500"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7AB66F9-F96D-4344-8601-74F94E0AC1CB}"/>
              </a:ext>
            </a:extLst>
          </p:cNvPr>
          <p:cNvSpPr>
            <a:spLocks xmlns:a="http://schemas.openxmlformats.org/drawingml/2006/main" noGrp="1"/>
          </p:cNvSpPr>
          <p:nvPr/>
        </p:nvSpPr>
        <p:spPr>
          <a:xfrm xmlns:a="http://schemas.openxmlformats.org/drawingml/2006/main">
            <a:off x="20955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1" name=""/>
          <p:cNvCxnSpPr>
            <a:stCxn xmlns:a="http://schemas.openxmlformats.org/drawingml/2006/main" id="28" idx="3"/>
            <a:endCxn xmlns:a="http://schemas.openxmlformats.org/drawingml/2006/main" id="29" idx="1"/>
          </p:cNvCxnSpPr>
          <p:nvPr/>
        </p:nvCxnSpPr>
        <p:spPr>
          <a:xfrm xmlns:a="http://schemas.openxmlformats.org/drawingml/2006/main" flipH="1">
            <a:off x="2095500"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1" name="">
            <a:extLst xmlns:a="http://schemas.openxmlformats.org/drawingml/2006/main">
              <a:ext uri="{FF2B5EF4-FFF2-40B4-BE49-F238E27FC236}">
                <a16:creationId xmlns:a16="http://schemas.microsoft.com/office/drawing/2014/main" id="{4964B07F-CEA9-4823-A74C-441EF0E2803D}"/>
              </a:ext>
            </a:extLst>
          </p:cNvPr>
          <p:cNvSpPr>
            <a:spLocks xmlns:a="http://schemas.openxmlformats.org/drawingml/2006/main" noGrp="1"/>
          </p:cNvSpPr>
          <p:nvPr/>
        </p:nvSpPr>
        <p:spPr>
          <a:xfrm xmlns:a="http://schemas.openxmlformats.org/drawingml/2006/main">
            <a:off x="666750" y="2533650"/>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Order data</a:t>
            </a:r>
          </a:p>
        </p:txBody>
      </p:sp>
      <p:sp>
        <p:nvSpPr>
          <p:cNvPr id="32" name="">
            <a:extLst xmlns:a="http://schemas.openxmlformats.org/drawingml/2006/main">
              <a:ext uri="{FF2B5EF4-FFF2-40B4-BE49-F238E27FC236}">
                <a16:creationId xmlns:a16="http://schemas.microsoft.com/office/drawing/2014/main" id="{B54C98E6-3729-4F5C-A182-E4D0A76E6D71}"/>
              </a:ext>
            </a:extLst>
          </p:cNvPr>
          <p:cNvSpPr>
            <a:spLocks xmlns:a="http://schemas.openxmlformats.org/drawingml/2006/main" noGrp="1"/>
          </p:cNvSpPr>
          <p:nvPr/>
        </p:nvSpPr>
        <p:spPr>
          <a:xfrm xmlns:a="http://schemas.openxmlformats.org/drawingml/2006/main">
            <a:off x="5724525"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B28247E-5F9F-4697-BB04-06CD5824EBB1}"/>
              </a:ext>
            </a:extLst>
          </p:cNvPr>
          <p:cNvSpPr>
            <a:spLocks xmlns:a="http://schemas.openxmlformats.org/drawingml/2006/main" noGrp="1"/>
          </p:cNvSpPr>
          <p:nvPr/>
        </p:nvSpPr>
        <p:spPr>
          <a:xfrm xmlns:a="http://schemas.openxmlformats.org/drawingml/2006/main">
            <a:off x="5724525"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5" name=""/>
          <p:cNvCxnSpPr>
            <a:stCxn xmlns:a="http://schemas.openxmlformats.org/drawingml/2006/main" id="32" idx="3"/>
            <a:endCxn xmlns:a="http://schemas.openxmlformats.org/drawingml/2006/main" id="33" idx="1"/>
          </p:cNvCxnSpPr>
          <p:nvPr/>
        </p:nvCxnSpPr>
        <p:spPr>
          <a:xfrm xmlns:a="http://schemas.openxmlformats.org/drawingml/2006/main" flipH="1">
            <a:off x="5724525"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5" name="">
            <a:extLst xmlns:a="http://schemas.openxmlformats.org/drawingml/2006/main">
              <a:ext uri="{FF2B5EF4-FFF2-40B4-BE49-F238E27FC236}">
                <a16:creationId xmlns:a16="http://schemas.microsoft.com/office/drawing/2014/main" id="{2DD17DE3-A7C3-4784-B3B4-C6F75BBCDC78}"/>
              </a:ext>
            </a:extLst>
          </p:cNvPr>
          <p:cNvSpPr>
            <a:spLocks xmlns:a="http://schemas.openxmlformats.org/drawingml/2006/main" noGrp="1"/>
          </p:cNvSpPr>
          <p:nvPr/>
        </p:nvSpPr>
        <p:spPr>
          <a:xfrm xmlns:a="http://schemas.openxmlformats.org/drawingml/2006/main">
            <a:off x="4095750" y="2514600"/>
            <a:ext cx="2714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Capacity / time limits</a:t>
            </a:r>
          </a:p>
        </p:txBody>
      </p:sp>
      <p:sp>
        <p:nvSpPr>
          <p:cNvPr id="36" name="">
            <a:extLst xmlns:a="http://schemas.openxmlformats.org/drawingml/2006/main">
              <a:ext uri="{FF2B5EF4-FFF2-40B4-BE49-F238E27FC236}">
                <a16:creationId xmlns:a16="http://schemas.microsoft.com/office/drawing/2014/main" id="{E359760B-48FC-4CEC-B14F-D8FCBD827C03}"/>
              </a:ext>
            </a:extLst>
          </p:cNvPr>
          <p:cNvSpPr>
            <a:spLocks xmlns:a="http://schemas.openxmlformats.org/drawingml/2006/main" noGrp="1"/>
          </p:cNvSpPr>
          <p:nvPr/>
        </p:nvSpPr>
        <p:spPr>
          <a:xfrm xmlns:a="http://schemas.openxmlformats.org/drawingml/2006/main">
            <a:off x="9334500" y="2333625"/>
            <a:ext cx="953" cy="953"/>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0759B8B-B177-4576-80C7-2B21F0E7C17D}"/>
              </a:ext>
            </a:extLst>
          </p:cNvPr>
          <p:cNvSpPr>
            <a:spLocks xmlns:a="http://schemas.openxmlformats.org/drawingml/2006/main" noGrp="1"/>
          </p:cNvSpPr>
          <p:nvPr/>
        </p:nvSpPr>
        <p:spPr>
          <a:xfrm xmlns:a="http://schemas.openxmlformats.org/drawingml/2006/main">
            <a:off x="93345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9" name=""/>
          <p:cNvCxnSpPr>
            <a:stCxn xmlns:a="http://schemas.openxmlformats.org/drawingml/2006/main" id="36" idx="3"/>
            <a:endCxn xmlns:a="http://schemas.openxmlformats.org/drawingml/2006/main" id="37" idx="1"/>
          </p:cNvCxnSpPr>
          <p:nvPr/>
        </p:nvCxnSpPr>
        <p:spPr>
          <a:xfrm xmlns:a="http://schemas.openxmlformats.org/drawingml/2006/main" flipH="1">
            <a:off x="9334500" y="2334102"/>
            <a:ext cx="953" cy="92392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39" name="">
            <a:extLst xmlns:a="http://schemas.openxmlformats.org/drawingml/2006/main">
              <a:ext uri="{FF2B5EF4-FFF2-40B4-BE49-F238E27FC236}">
                <a16:creationId xmlns:a16="http://schemas.microsoft.com/office/drawing/2014/main" id="{D314937C-9AD4-4A3F-91B3-B4CA9C2102F3}"/>
              </a:ext>
            </a:extLst>
          </p:cNvPr>
          <p:cNvSpPr>
            <a:spLocks xmlns:a="http://schemas.openxmlformats.org/drawingml/2006/main" noGrp="1"/>
          </p:cNvSpPr>
          <p:nvPr/>
        </p:nvSpPr>
        <p:spPr>
          <a:xfrm xmlns:a="http://schemas.openxmlformats.org/drawingml/2006/main">
            <a:off x="7905750" y="2514600"/>
            <a:ext cx="171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Coordinates</a:t>
            </a:r>
          </a:p>
        </p:txBody>
      </p:sp>
      <p:sp>
        <p:nvSpPr>
          <p:cNvPr id="40" name="">
            <a:extLst xmlns:a="http://schemas.openxmlformats.org/drawingml/2006/main">
              <a:ext uri="{FF2B5EF4-FFF2-40B4-BE49-F238E27FC236}">
                <a16:creationId xmlns:a16="http://schemas.microsoft.com/office/drawing/2014/main" id="{C631DEBF-73DB-4E62-AE16-074BC6065A0E}"/>
              </a:ext>
            </a:extLst>
          </p:cNvPr>
          <p:cNvSpPr>
            <a:spLocks xmlns:a="http://schemas.openxmlformats.org/drawingml/2006/main" noGrp="1"/>
          </p:cNvSpPr>
          <p:nvPr/>
        </p:nvSpPr>
        <p:spPr>
          <a:xfrm xmlns:a="http://schemas.openxmlformats.org/drawingml/2006/main">
            <a:off x="11477625" y="2105025"/>
            <a:ext cx="953" cy="953"/>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9D79F18-ECFF-4B9A-8CA8-8C82B12CAFF0}"/>
              </a:ext>
            </a:extLst>
          </p:cNvPr>
          <p:cNvSpPr>
            <a:spLocks xmlns:a="http://schemas.openxmlformats.org/drawingml/2006/main" noGrp="1"/>
          </p:cNvSpPr>
          <p:nvPr/>
        </p:nvSpPr>
        <p:spPr>
          <a:xfrm xmlns:a="http://schemas.openxmlformats.org/drawingml/2006/main">
            <a:off x="10810875" y="21050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3" name=""/>
          <p:cNvCxnSpPr>
            <a:stCxn xmlns:a="http://schemas.openxmlformats.org/drawingml/2006/main" id="40" idx="3"/>
            <a:endCxn xmlns:a="http://schemas.openxmlformats.org/drawingml/2006/main" id="41" idx="1"/>
          </p:cNvCxnSpPr>
          <p:nvPr/>
        </p:nvCxnSpPr>
        <p:spPr>
          <a:xfrm xmlns:a="http://schemas.openxmlformats.org/drawingml/2006/main" flipH="1">
            <a:off x="10810875" y="2105502"/>
            <a:ext cx="6677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3" name="">
            <a:extLst xmlns:a="http://schemas.openxmlformats.org/drawingml/2006/main">
              <a:ext uri="{FF2B5EF4-FFF2-40B4-BE49-F238E27FC236}">
                <a16:creationId xmlns:a16="http://schemas.microsoft.com/office/drawing/2014/main" id="{509B3DDF-BCD0-4996-83D7-A5E16EF82A24}"/>
              </a:ext>
            </a:extLst>
          </p:cNvPr>
          <p:cNvSpPr>
            <a:spLocks xmlns:a="http://schemas.openxmlformats.org/drawingml/2006/main" noGrp="1"/>
          </p:cNvSpPr>
          <p:nvPr/>
        </p:nvSpPr>
        <p:spPr>
          <a:xfrm xmlns:a="http://schemas.openxmlformats.org/drawingml/2006/main">
            <a:off x="10477500" y="1647825"/>
            <a:ext cx="1428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15334B"/>
                </a:solidFill>
                <a:latin typeface="Arial"/>
                <a:ea typeface="Arial"/>
                <a:cs typeface="Arial"/>
              </a:defRPr>
            </a:pPr>
            <a:r>
              <a:rPr sz="1275" b="0">
                <a:solidFill>
                  <a:srgbClr val="15334B"/>
                </a:solidFill>
                <a:latin typeface="Arial"/>
                <a:ea typeface="Arial"/>
                <a:cs typeface="Arial"/>
              </a:rPr>
              <a:t>Distance data</a:t>
            </a:r>
          </a:p>
        </p:txBody>
      </p:sp>
      <p:sp>
        <p:nvSpPr>
          <p:cNvPr id="44" name="">
            <a:extLst xmlns:a="http://schemas.openxmlformats.org/drawingml/2006/main">
              <a:ext uri="{FF2B5EF4-FFF2-40B4-BE49-F238E27FC236}">
                <a16:creationId xmlns:a16="http://schemas.microsoft.com/office/drawing/2014/main" id="{DF8990BA-4404-4DDA-90F9-5CBD8E743732}"/>
              </a:ext>
            </a:extLst>
          </p:cNvPr>
          <p:cNvSpPr>
            <a:spLocks xmlns:a="http://schemas.openxmlformats.org/drawingml/2006/main" noGrp="1"/>
          </p:cNvSpPr>
          <p:nvPr/>
        </p:nvSpPr>
        <p:spPr>
          <a:xfrm xmlns:a="http://schemas.openxmlformats.org/drawingml/2006/main">
            <a:off x="10810875" y="2257425"/>
            <a:ext cx="953" cy="953"/>
          </a:xfrm>
          <a:prstGeom xmlns:a="http://schemas.openxmlformats.org/drawingml/2006/main" prst="rect">
            <a:avLst/>
          </a:prstGeom>
          <a:noFill xmlns:a="http://schemas.openxmlformats.org/drawingml/2006/main"/>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A3FC055-D5D4-484F-9D56-94927162C549}"/>
              </a:ext>
            </a:extLst>
          </p:cNvPr>
          <p:cNvSpPr>
            <a:spLocks xmlns:a="http://schemas.openxmlformats.org/drawingml/2006/main" noGrp="1"/>
          </p:cNvSpPr>
          <p:nvPr/>
        </p:nvSpPr>
        <p:spPr>
          <a:xfrm xmlns:a="http://schemas.openxmlformats.org/drawingml/2006/main">
            <a:off x="11477625" y="22574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7" name=""/>
          <p:cNvCxnSpPr>
            <a:stCxn xmlns:a="http://schemas.openxmlformats.org/drawingml/2006/main" id="44" idx="3"/>
            <a:endCxn xmlns:a="http://schemas.openxmlformats.org/drawingml/2006/main" id="45" idx="1"/>
          </p:cNvCxnSpPr>
          <p:nvPr/>
        </p:nvCxnSpPr>
        <p:spPr>
          <a:xfrm xmlns:a="http://schemas.openxmlformats.org/drawingml/2006/main">
            <a:off x="10811828" y="2257902"/>
            <a:ext cx="6657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47" name="">
            <a:extLst xmlns:a="http://schemas.openxmlformats.org/drawingml/2006/main">
              <a:ext uri="{FF2B5EF4-FFF2-40B4-BE49-F238E27FC236}">
                <a16:creationId xmlns:a16="http://schemas.microsoft.com/office/drawing/2014/main" id="{A03F08B6-9040-4D26-88BC-27C23A6E79C1}"/>
              </a:ext>
            </a:extLst>
          </p:cNvPr>
          <p:cNvSpPr>
            <a:spLocks xmlns:a="http://schemas.openxmlformats.org/drawingml/2006/main" noGrp="1"/>
          </p:cNvSpPr>
          <p:nvPr/>
        </p:nvSpPr>
        <p:spPr>
          <a:xfrm xmlns:a="http://schemas.openxmlformats.org/drawingml/2006/main">
            <a:off x="619125"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4.8  Store route</a:t>
            </a:r>
          </a:p>
        </p:txBody>
      </p:sp>
      <p:sp>
        <p:nvSpPr>
          <p:cNvPr id="48" name="">
            <a:extLst xmlns:a="http://schemas.openxmlformats.org/drawingml/2006/main">
              <a:ext uri="{FF2B5EF4-FFF2-40B4-BE49-F238E27FC236}">
                <a16:creationId xmlns:a16="http://schemas.microsoft.com/office/drawing/2014/main" id="{8E3124CF-3B56-4684-9D76-BD209F302241}"/>
              </a:ext>
            </a:extLst>
          </p:cNvPr>
          <p:cNvSpPr>
            <a:spLocks xmlns:a="http://schemas.openxmlformats.org/drawingml/2006/main" noGrp="1"/>
          </p:cNvSpPr>
          <p:nvPr/>
        </p:nvSpPr>
        <p:spPr>
          <a:xfrm xmlns:a="http://schemas.openxmlformats.org/drawingml/2006/main">
            <a:off x="4248150"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4.7  Calculate metrics</a:t>
            </a:r>
          </a:p>
        </p:txBody>
      </p:sp>
      <p:sp>
        <p:nvSpPr>
          <p:cNvPr id="49" name="">
            <a:extLst xmlns:a="http://schemas.openxmlformats.org/drawingml/2006/main">
              <a:ext uri="{FF2B5EF4-FFF2-40B4-BE49-F238E27FC236}">
                <a16:creationId xmlns:a16="http://schemas.microsoft.com/office/drawing/2014/main" id="{1CA39D7D-DE7B-4D0B-B83B-D1C3133CCA38}"/>
              </a:ext>
            </a:extLst>
          </p:cNvPr>
          <p:cNvSpPr>
            <a:spLocks xmlns:a="http://schemas.openxmlformats.org/drawingml/2006/main" noGrp="1"/>
          </p:cNvSpPr>
          <p:nvPr/>
        </p:nvSpPr>
        <p:spPr>
          <a:xfrm xmlns:a="http://schemas.openxmlformats.org/drawingml/2006/main">
            <a:off x="7858125" y="5505450"/>
            <a:ext cx="29527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4.6  Check constraints</a:t>
            </a:r>
          </a:p>
        </p:txBody>
      </p:sp>
      <p:sp>
        <p:nvSpPr>
          <p:cNvPr id="50" name="">
            <a:extLst xmlns:a="http://schemas.openxmlformats.org/drawingml/2006/main">
              <a:ext uri="{FF2B5EF4-FFF2-40B4-BE49-F238E27FC236}">
                <a16:creationId xmlns:a16="http://schemas.microsoft.com/office/drawing/2014/main" id="{FFE6B6FC-A34F-41A7-A3A8-EFCB7779D94E}"/>
              </a:ext>
            </a:extLst>
          </p:cNvPr>
          <p:cNvSpPr>
            <a:spLocks xmlns:a="http://schemas.openxmlformats.org/drawingml/2006/main" noGrp="1"/>
          </p:cNvSpPr>
          <p:nvPr/>
        </p:nvSpPr>
        <p:spPr>
          <a:xfrm xmlns:a="http://schemas.openxmlformats.org/drawingml/2006/main">
            <a:off x="11477625" y="5505450"/>
            <a:ext cx="3143250" cy="857250"/>
          </a:xfrm>
          <a:prstGeom xmlns:a="http://schemas.openxmlformats.org/drawingml/2006/main" prst="roundRect">
            <a:avLst>
              <a:gd name="adj" fmla="val 8889"/>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4.5  Apply optimization</a:t>
            </a:r>
          </a:p>
        </p:txBody>
      </p:sp>
      <p:sp>
        <p:nvSpPr>
          <p:cNvPr id="51" name="">
            <a:extLst xmlns:a="http://schemas.openxmlformats.org/drawingml/2006/main">
              <a:ext uri="{FF2B5EF4-FFF2-40B4-BE49-F238E27FC236}">
                <a16:creationId xmlns:a16="http://schemas.microsoft.com/office/drawing/2014/main" id="{258E690A-CB14-4A2F-B064-795D7EE28E5B}"/>
              </a:ext>
            </a:extLst>
          </p:cNvPr>
          <p:cNvSpPr>
            <a:spLocks xmlns:a="http://schemas.openxmlformats.org/drawingml/2006/main" noGrp="1"/>
          </p:cNvSpPr>
          <p:nvPr/>
        </p:nvSpPr>
        <p:spPr>
          <a:xfrm xmlns:a="http://schemas.openxmlformats.org/drawingml/2006/main">
            <a:off x="13049250" y="4114800"/>
            <a:ext cx="953" cy="953"/>
          </a:xfrm>
          <a:prstGeom xmlns:a="http://schemas.openxmlformats.org/drawingml/2006/main" prst="rect">
            <a:avLst/>
          </a:prstGeom>
          <a:noFill xmlns:a="http://schemas.openxmlformats.org/drawingml/2006/main"/>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6D01A37-DCB2-472E-AC33-67273283FF14}"/>
              </a:ext>
            </a:extLst>
          </p:cNvPr>
          <p:cNvSpPr>
            <a:spLocks xmlns:a="http://schemas.openxmlformats.org/drawingml/2006/main" noGrp="1"/>
          </p:cNvSpPr>
          <p:nvPr/>
        </p:nvSpPr>
        <p:spPr>
          <a:xfrm xmlns:a="http://schemas.openxmlformats.org/drawingml/2006/main">
            <a:off x="13049250" y="55054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4" name=""/>
          <p:cNvCxnSpPr>
            <a:stCxn xmlns:a="http://schemas.openxmlformats.org/drawingml/2006/main" id="51" idx="3"/>
            <a:endCxn xmlns:a="http://schemas.openxmlformats.org/drawingml/2006/main" id="52" idx="1"/>
          </p:cNvCxnSpPr>
          <p:nvPr/>
        </p:nvCxnSpPr>
        <p:spPr>
          <a:xfrm xmlns:a="http://schemas.openxmlformats.org/drawingml/2006/main" flipH="1">
            <a:off x="13049250" y="4115277"/>
            <a:ext cx="953" cy="13906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4" name="">
            <a:extLst xmlns:a="http://schemas.openxmlformats.org/drawingml/2006/main">
              <a:ext uri="{FF2B5EF4-FFF2-40B4-BE49-F238E27FC236}">
                <a16:creationId xmlns:a16="http://schemas.microsoft.com/office/drawing/2014/main" id="{6C57857F-6184-41D4-9CFD-815C598413F3}"/>
              </a:ext>
            </a:extLst>
          </p:cNvPr>
          <p:cNvSpPr>
            <a:spLocks xmlns:a="http://schemas.openxmlformats.org/drawingml/2006/main" noGrp="1"/>
          </p:cNvSpPr>
          <p:nvPr/>
        </p:nvSpPr>
        <p:spPr>
          <a:xfrm xmlns:a="http://schemas.openxmlformats.org/drawingml/2006/main">
            <a:off x="13239750" y="454342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15334B"/>
                </a:solidFill>
                <a:latin typeface="Arial"/>
                <a:ea typeface="Arial"/>
                <a:cs typeface="Arial"/>
              </a:defRPr>
            </a:pPr>
            <a:r>
              <a:rPr sz="1500" b="0">
                <a:solidFill>
                  <a:srgbClr val="15334B"/>
                </a:solidFill>
                <a:latin typeface="Arial"/>
                <a:ea typeface="Arial"/>
                <a:cs typeface="Arial"/>
              </a:rPr>
              <a:t>Initial route</a:t>
            </a:r>
          </a:p>
        </p:txBody>
      </p:sp>
      <p:sp>
        <p:nvSpPr>
          <p:cNvPr id="55" name="">
            <a:extLst xmlns:a="http://schemas.openxmlformats.org/drawingml/2006/main">
              <a:ext uri="{FF2B5EF4-FFF2-40B4-BE49-F238E27FC236}">
                <a16:creationId xmlns:a16="http://schemas.microsoft.com/office/drawing/2014/main" id="{E605D256-6EAC-4B65-8081-03A2EE54076E}"/>
              </a:ext>
            </a:extLst>
          </p:cNvPr>
          <p:cNvSpPr>
            <a:spLocks xmlns:a="http://schemas.openxmlformats.org/drawingml/2006/main" noGrp="1"/>
          </p:cNvSpPr>
          <p:nvPr/>
        </p:nvSpPr>
        <p:spPr>
          <a:xfrm xmlns:a="http://schemas.openxmlformats.org/drawingml/2006/main">
            <a:off x="11477625"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8E93585-14C9-4038-89DD-C4D8FE980DB3}"/>
              </a:ext>
            </a:extLst>
          </p:cNvPr>
          <p:cNvSpPr>
            <a:spLocks xmlns:a="http://schemas.openxmlformats.org/drawingml/2006/main" noGrp="1"/>
          </p:cNvSpPr>
          <p:nvPr/>
        </p:nvSpPr>
        <p:spPr>
          <a:xfrm xmlns:a="http://schemas.openxmlformats.org/drawingml/2006/main">
            <a:off x="10810875"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8" name=""/>
          <p:cNvCxnSpPr>
            <a:stCxn xmlns:a="http://schemas.openxmlformats.org/drawingml/2006/main" id="55" idx="3"/>
            <a:endCxn xmlns:a="http://schemas.openxmlformats.org/drawingml/2006/main" id="56" idx="1"/>
          </p:cNvCxnSpPr>
          <p:nvPr/>
        </p:nvCxnSpPr>
        <p:spPr>
          <a:xfrm xmlns:a="http://schemas.openxmlformats.org/drawingml/2006/main" flipH="1">
            <a:off x="10810875" y="5934552"/>
            <a:ext cx="667703"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58" name="">
            <a:extLst xmlns:a="http://schemas.openxmlformats.org/drawingml/2006/main">
              <a:ext uri="{FF2B5EF4-FFF2-40B4-BE49-F238E27FC236}">
                <a16:creationId xmlns:a16="http://schemas.microsoft.com/office/drawing/2014/main" id="{3ABF8F83-2CE2-4E5B-86B6-B4D51BA01075}"/>
              </a:ext>
            </a:extLst>
          </p:cNvPr>
          <p:cNvSpPr>
            <a:spLocks xmlns:a="http://schemas.openxmlformats.org/drawingml/2006/main" noGrp="1"/>
          </p:cNvSpPr>
          <p:nvPr/>
        </p:nvSpPr>
        <p:spPr>
          <a:xfrm xmlns:a="http://schemas.openxmlformats.org/drawingml/2006/main">
            <a:off x="10687050"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Candidate</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route</a:t>
            </a:r>
          </a:p>
        </p:txBody>
      </p:sp>
      <p:sp>
        <p:nvSpPr>
          <p:cNvPr id="59" name="">
            <a:extLst xmlns:a="http://schemas.openxmlformats.org/drawingml/2006/main">
              <a:ext uri="{FF2B5EF4-FFF2-40B4-BE49-F238E27FC236}">
                <a16:creationId xmlns:a16="http://schemas.microsoft.com/office/drawing/2014/main" id="{AE02C19E-B3CA-4DC9-A94A-863CE5066138}"/>
              </a:ext>
            </a:extLst>
          </p:cNvPr>
          <p:cNvSpPr>
            <a:spLocks xmlns:a="http://schemas.openxmlformats.org/drawingml/2006/main" noGrp="1"/>
          </p:cNvSpPr>
          <p:nvPr/>
        </p:nvSpPr>
        <p:spPr>
          <a:xfrm xmlns:a="http://schemas.openxmlformats.org/drawingml/2006/main">
            <a:off x="7858125"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13127EF3-9C55-4707-AEA4-F31FCB3EA9D3}"/>
              </a:ext>
            </a:extLst>
          </p:cNvPr>
          <p:cNvSpPr>
            <a:spLocks xmlns:a="http://schemas.openxmlformats.org/drawingml/2006/main" noGrp="1"/>
          </p:cNvSpPr>
          <p:nvPr/>
        </p:nvSpPr>
        <p:spPr>
          <a:xfrm xmlns:a="http://schemas.openxmlformats.org/drawingml/2006/main">
            <a:off x="7200900"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2" name=""/>
          <p:cNvCxnSpPr>
            <a:stCxn xmlns:a="http://schemas.openxmlformats.org/drawingml/2006/main" id="59" idx="3"/>
            <a:endCxn xmlns:a="http://schemas.openxmlformats.org/drawingml/2006/main" id="60" idx="1"/>
          </p:cNvCxnSpPr>
          <p:nvPr/>
        </p:nvCxnSpPr>
        <p:spPr>
          <a:xfrm xmlns:a="http://schemas.openxmlformats.org/drawingml/2006/main" flipH="1">
            <a:off x="7200900" y="5934552"/>
            <a:ext cx="658178"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2" name="">
            <a:extLst xmlns:a="http://schemas.openxmlformats.org/drawingml/2006/main">
              <a:ext uri="{FF2B5EF4-FFF2-40B4-BE49-F238E27FC236}">
                <a16:creationId xmlns:a16="http://schemas.microsoft.com/office/drawing/2014/main" id="{EF0FE1BA-35D3-40FA-8990-A31F9C591965}"/>
              </a:ext>
            </a:extLst>
          </p:cNvPr>
          <p:cNvSpPr>
            <a:spLocks xmlns:a="http://schemas.openxmlformats.org/drawingml/2006/main" noGrp="1"/>
          </p:cNvSpPr>
          <p:nvPr/>
        </p:nvSpPr>
        <p:spPr>
          <a:xfrm xmlns:a="http://schemas.openxmlformats.org/drawingml/2006/main">
            <a:off x="7067550"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Feasible</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plan</a:t>
            </a:r>
          </a:p>
        </p:txBody>
      </p:sp>
      <p:sp>
        <p:nvSpPr>
          <p:cNvPr id="63" name="">
            <a:extLst xmlns:a="http://schemas.openxmlformats.org/drawingml/2006/main">
              <a:ext uri="{FF2B5EF4-FFF2-40B4-BE49-F238E27FC236}">
                <a16:creationId xmlns:a16="http://schemas.microsoft.com/office/drawing/2014/main" id="{DD3878AD-5CD7-483C-8236-E1B1E66EE4DA}"/>
              </a:ext>
            </a:extLst>
          </p:cNvPr>
          <p:cNvSpPr>
            <a:spLocks xmlns:a="http://schemas.openxmlformats.org/drawingml/2006/main" noGrp="1"/>
          </p:cNvSpPr>
          <p:nvPr/>
        </p:nvSpPr>
        <p:spPr>
          <a:xfrm xmlns:a="http://schemas.openxmlformats.org/drawingml/2006/main">
            <a:off x="4248150"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F27BD63B-5FE6-4633-9E97-33767AEA451E}"/>
              </a:ext>
            </a:extLst>
          </p:cNvPr>
          <p:cNvSpPr>
            <a:spLocks xmlns:a="http://schemas.openxmlformats.org/drawingml/2006/main" noGrp="1"/>
          </p:cNvSpPr>
          <p:nvPr/>
        </p:nvSpPr>
        <p:spPr>
          <a:xfrm xmlns:a="http://schemas.openxmlformats.org/drawingml/2006/main">
            <a:off x="3571875" y="59340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6" name=""/>
          <p:cNvCxnSpPr>
            <a:stCxn xmlns:a="http://schemas.openxmlformats.org/drawingml/2006/main" id="63" idx="3"/>
            <a:endCxn xmlns:a="http://schemas.openxmlformats.org/drawingml/2006/main" id="64" idx="1"/>
          </p:cNvCxnSpPr>
          <p:nvPr/>
        </p:nvCxnSpPr>
        <p:spPr>
          <a:xfrm xmlns:a="http://schemas.openxmlformats.org/drawingml/2006/main" flipH="1">
            <a:off x="3571875" y="5934552"/>
            <a:ext cx="677228"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66" name="">
            <a:extLst xmlns:a="http://schemas.openxmlformats.org/drawingml/2006/main">
              <a:ext uri="{FF2B5EF4-FFF2-40B4-BE49-F238E27FC236}">
                <a16:creationId xmlns:a16="http://schemas.microsoft.com/office/drawing/2014/main" id="{2266F18D-FE62-409E-A58F-54BD112CD398}"/>
              </a:ext>
            </a:extLst>
          </p:cNvPr>
          <p:cNvSpPr>
            <a:spLocks xmlns:a="http://schemas.openxmlformats.org/drawingml/2006/main" noGrp="1"/>
          </p:cNvSpPr>
          <p:nvPr/>
        </p:nvSpPr>
        <p:spPr>
          <a:xfrm xmlns:a="http://schemas.openxmlformats.org/drawingml/2006/main">
            <a:off x="3457575" y="5057775"/>
            <a:ext cx="90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Plan +</a:t>
            </a:r>
          </a:p>
          <a:p xmlns:a="http://schemas.openxmlformats.org/drawingml/2006/main">
            <a:pPr algn="ctr">
              <a:defRPr sz="1350" b="0">
                <a:solidFill>
                  <a:srgbClr val="526E80"/>
                </a:solidFill>
                <a:latin typeface="Arial"/>
                <a:ea typeface="Arial"/>
                <a:cs typeface="Arial"/>
              </a:defRPr>
            </a:pPr>
            <a:r>
              <a:rPr sz="1350" b="0">
                <a:solidFill>
                  <a:srgbClr val="526E80"/>
                </a:solidFill>
                <a:latin typeface="Arial"/>
                <a:ea typeface="Arial"/>
                <a:cs typeface="Arial"/>
              </a:rPr>
              <a:t>metrics</a:t>
            </a:r>
          </a:p>
        </p:txBody>
      </p:sp>
      <p:sp>
        <p:nvSpPr>
          <p:cNvPr id="67" name="">
            <a:extLst xmlns:a="http://schemas.openxmlformats.org/drawingml/2006/main">
              <a:ext uri="{FF2B5EF4-FFF2-40B4-BE49-F238E27FC236}">
                <a16:creationId xmlns:a16="http://schemas.microsoft.com/office/drawing/2014/main" id="{46E869B4-076C-4A33-B341-713AF91C1BD6}"/>
              </a:ext>
            </a:extLst>
          </p:cNvPr>
          <p:cNvSpPr>
            <a:spLocks xmlns:a="http://schemas.openxmlformats.org/drawingml/2006/main" noGrp="1"/>
          </p:cNvSpPr>
          <p:nvPr/>
        </p:nvSpPr>
        <p:spPr>
          <a:xfrm xmlns:a="http://schemas.openxmlformats.org/drawingml/2006/main">
            <a:off x="10191750" y="5505450"/>
            <a:ext cx="953" cy="953"/>
          </a:xfrm>
          <a:prstGeom xmlns:a="http://schemas.openxmlformats.org/drawingml/2006/main" prst="rect">
            <a:avLst/>
          </a:prstGeom>
          <a:noFill xmlns:a="http://schemas.openxmlformats.org/drawingml/2006/main"/>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45639DAD-0150-4B8F-A6F9-06F0CDD302CD}"/>
              </a:ext>
            </a:extLst>
          </p:cNvPr>
          <p:cNvSpPr>
            <a:spLocks xmlns:a="http://schemas.openxmlformats.org/drawingml/2006/main" noGrp="1"/>
          </p:cNvSpPr>
          <p:nvPr/>
        </p:nvSpPr>
        <p:spPr>
          <a:xfrm xmlns:a="http://schemas.openxmlformats.org/drawingml/2006/main">
            <a:off x="10191750" y="4600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0" name=""/>
          <p:cNvCxnSpPr>
            <a:stCxn xmlns:a="http://schemas.openxmlformats.org/drawingml/2006/main" id="67" idx="3"/>
            <a:endCxn xmlns:a="http://schemas.openxmlformats.org/drawingml/2006/main" id="68" idx="1"/>
          </p:cNvCxnSpPr>
          <p:nvPr/>
        </p:nvCxnSpPr>
        <p:spPr>
          <a:xfrm xmlns:a="http://schemas.openxmlformats.org/drawingml/2006/main" flipH="1" flipV="1">
            <a:off x="10191750" y="4601052"/>
            <a:ext cx="953" cy="904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0" name="">
            <a:extLst xmlns:a="http://schemas.openxmlformats.org/drawingml/2006/main">
              <a:ext uri="{FF2B5EF4-FFF2-40B4-BE49-F238E27FC236}">
                <a16:creationId xmlns:a16="http://schemas.microsoft.com/office/drawing/2014/main" id="{7E8D1B92-7401-4C55-B08B-B6769E424D6A}"/>
              </a:ext>
            </a:extLst>
          </p:cNvPr>
          <p:cNvSpPr>
            <a:spLocks xmlns:a="http://schemas.openxmlformats.org/drawingml/2006/main" noGrp="1"/>
          </p:cNvSpPr>
          <p:nvPr/>
        </p:nvSpPr>
        <p:spPr>
          <a:xfrm xmlns:a="http://schemas.openxmlformats.org/drawingml/2006/main">
            <a:off x="10191750" y="4600575"/>
            <a:ext cx="953" cy="953"/>
          </a:xfrm>
          <a:prstGeom xmlns:a="http://schemas.openxmlformats.org/drawingml/2006/main" prst="rect">
            <a:avLst/>
          </a:prstGeom>
          <a:noFill xmlns:a="http://schemas.openxmlformats.org/drawingml/2006/main"/>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761EE336-66B3-4B39-BAE3-97D995526000}"/>
              </a:ext>
            </a:extLst>
          </p:cNvPr>
          <p:cNvSpPr>
            <a:spLocks xmlns:a="http://schemas.openxmlformats.org/drawingml/2006/main" noGrp="1"/>
          </p:cNvSpPr>
          <p:nvPr/>
        </p:nvSpPr>
        <p:spPr>
          <a:xfrm xmlns:a="http://schemas.openxmlformats.org/drawingml/2006/main">
            <a:off x="12192000" y="46005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3" name=""/>
          <p:cNvCxnSpPr>
            <a:stCxn xmlns:a="http://schemas.openxmlformats.org/drawingml/2006/main" id="70" idx="3"/>
            <a:endCxn xmlns:a="http://schemas.openxmlformats.org/drawingml/2006/main" id="71" idx="1"/>
          </p:cNvCxnSpPr>
          <p:nvPr/>
        </p:nvCxnSpPr>
        <p:spPr>
          <a:xfrm xmlns:a="http://schemas.openxmlformats.org/drawingml/2006/main">
            <a:off x="10192703" y="4601052"/>
            <a:ext cx="1999297"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3" name="">
            <a:extLst xmlns:a="http://schemas.openxmlformats.org/drawingml/2006/main">
              <a:ext uri="{FF2B5EF4-FFF2-40B4-BE49-F238E27FC236}">
                <a16:creationId xmlns:a16="http://schemas.microsoft.com/office/drawing/2014/main" id="{E9479E30-CEB4-4E86-B5D5-FF6E05E3471F}"/>
              </a:ext>
            </a:extLst>
          </p:cNvPr>
          <p:cNvSpPr>
            <a:spLocks xmlns:a="http://schemas.openxmlformats.org/drawingml/2006/main" noGrp="1"/>
          </p:cNvSpPr>
          <p:nvPr/>
        </p:nvSpPr>
        <p:spPr>
          <a:xfrm xmlns:a="http://schemas.openxmlformats.org/drawingml/2006/main">
            <a:off x="12192000" y="4600575"/>
            <a:ext cx="953" cy="953"/>
          </a:xfrm>
          <a:prstGeom xmlns:a="http://schemas.openxmlformats.org/drawingml/2006/main" prst="rect">
            <a:avLst/>
          </a:prstGeom>
          <a:noFill xmlns:a="http://schemas.openxmlformats.org/drawingml/2006/main"/>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3C65D3CF-4FF4-4031-ABDE-FB897558D7B1}"/>
              </a:ext>
            </a:extLst>
          </p:cNvPr>
          <p:cNvSpPr>
            <a:spLocks xmlns:a="http://schemas.openxmlformats.org/drawingml/2006/main" noGrp="1"/>
          </p:cNvSpPr>
          <p:nvPr/>
        </p:nvSpPr>
        <p:spPr>
          <a:xfrm xmlns:a="http://schemas.openxmlformats.org/drawingml/2006/main">
            <a:off x="12192000" y="55054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6" name=""/>
          <p:cNvCxnSpPr>
            <a:stCxn xmlns:a="http://schemas.openxmlformats.org/drawingml/2006/main" id="73" idx="3"/>
            <a:endCxn xmlns:a="http://schemas.openxmlformats.org/drawingml/2006/main" id="74" idx="1"/>
          </p:cNvCxnSpPr>
          <p:nvPr/>
        </p:nvCxnSpPr>
        <p:spPr>
          <a:xfrm xmlns:a="http://schemas.openxmlformats.org/drawingml/2006/main" flipH="1">
            <a:off x="12192000" y="4601052"/>
            <a:ext cx="953" cy="9048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76" name="">
            <a:extLst xmlns:a="http://schemas.openxmlformats.org/drawingml/2006/main">
              <a:ext uri="{FF2B5EF4-FFF2-40B4-BE49-F238E27FC236}">
                <a16:creationId xmlns:a16="http://schemas.microsoft.com/office/drawing/2014/main" id="{CBDC4BCC-B449-4202-91F3-465D6CA72004}"/>
              </a:ext>
            </a:extLst>
          </p:cNvPr>
          <p:cNvSpPr>
            <a:spLocks xmlns:a="http://schemas.openxmlformats.org/drawingml/2006/main" noGrp="1"/>
          </p:cNvSpPr>
          <p:nvPr/>
        </p:nvSpPr>
        <p:spPr>
          <a:xfrm xmlns:a="http://schemas.openxmlformats.org/drawingml/2006/main">
            <a:off x="9363075" y="42481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15334B"/>
                </a:solidFill>
                <a:latin typeface="Arial"/>
                <a:ea typeface="Arial"/>
                <a:cs typeface="Arial"/>
              </a:defRPr>
            </a:pPr>
            <a:r>
              <a:rPr sz="1425" b="0">
                <a:solidFill>
                  <a:srgbClr val="15334B"/>
                </a:solidFill>
                <a:latin typeface="Arial"/>
                <a:ea typeface="Arial"/>
                <a:cs typeface="Arial"/>
              </a:rPr>
              <a:t>Violations: revise candidate</a:t>
            </a:r>
          </a:p>
        </p:txBody>
      </p:sp>
      <p:sp>
        <p:nvSpPr>
          <p:cNvPr id="77" name="">
            <a:extLst xmlns:a="http://schemas.openxmlformats.org/drawingml/2006/main">
              <a:ext uri="{FF2B5EF4-FFF2-40B4-BE49-F238E27FC236}">
                <a16:creationId xmlns:a16="http://schemas.microsoft.com/office/drawing/2014/main" id="{5AB48D96-C5C4-477F-8816-4619E92D2EE1}"/>
              </a:ext>
            </a:extLst>
          </p:cNvPr>
          <p:cNvSpPr>
            <a:spLocks xmlns:a="http://schemas.openxmlformats.org/drawingml/2006/main" noGrp="1"/>
          </p:cNvSpPr>
          <p:nvPr/>
        </p:nvSpPr>
        <p:spPr>
          <a:xfrm xmlns:a="http://schemas.openxmlformats.org/drawingml/2006/main">
            <a:off x="2095500" y="6362700"/>
            <a:ext cx="953" cy="953"/>
          </a:xfrm>
          <a:prstGeom xmlns:a="http://schemas.openxmlformats.org/drawingml/2006/main" prst="rect">
            <a:avLst/>
          </a:prstGeom>
          <a:noFill xmlns:a="http://schemas.openxmlformats.org/drawingml/2006/main"/>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DDEE4701-7C4D-4812-8237-64E26ACB21B8}"/>
              </a:ext>
            </a:extLst>
          </p:cNvPr>
          <p:cNvSpPr>
            <a:spLocks xmlns:a="http://schemas.openxmlformats.org/drawingml/2006/main" noGrp="1"/>
          </p:cNvSpPr>
          <p:nvPr/>
        </p:nvSpPr>
        <p:spPr>
          <a:xfrm xmlns:a="http://schemas.openxmlformats.org/drawingml/2006/main">
            <a:off x="2095500" y="695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0" name=""/>
          <p:cNvCxnSpPr>
            <a:stCxn xmlns:a="http://schemas.openxmlformats.org/drawingml/2006/main" id="77" idx="3"/>
            <a:endCxn xmlns:a="http://schemas.openxmlformats.org/drawingml/2006/main" id="78" idx="1"/>
          </p:cNvCxnSpPr>
          <p:nvPr/>
        </p:nvCxnSpPr>
        <p:spPr>
          <a:xfrm xmlns:a="http://schemas.openxmlformats.org/drawingml/2006/main" flipH="1">
            <a:off x="2095500" y="6363177"/>
            <a:ext cx="953" cy="5905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0" name="">
            <a:extLst xmlns:a="http://schemas.openxmlformats.org/drawingml/2006/main">
              <a:ext uri="{FF2B5EF4-FFF2-40B4-BE49-F238E27FC236}">
                <a16:creationId xmlns:a16="http://schemas.microsoft.com/office/drawing/2014/main" id="{EA08A3CE-78F5-46A5-AFD1-FB607268017F}"/>
              </a:ext>
            </a:extLst>
          </p:cNvPr>
          <p:cNvSpPr>
            <a:spLocks xmlns:a="http://schemas.openxmlformats.org/drawingml/2006/main" noGrp="1"/>
          </p:cNvSpPr>
          <p:nvPr/>
        </p:nvSpPr>
        <p:spPr>
          <a:xfrm xmlns:a="http://schemas.openxmlformats.org/drawingml/2006/main">
            <a:off x="619125" y="6953250"/>
            <a:ext cx="2952750" cy="48577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D5  Routes</a:t>
            </a:r>
          </a:p>
        </p:txBody>
      </p:sp>
      <p:sp>
        <p:nvSpPr>
          <p:cNvPr id="81" name="">
            <a:extLst xmlns:a="http://schemas.openxmlformats.org/drawingml/2006/main">
              <a:ext uri="{FF2B5EF4-FFF2-40B4-BE49-F238E27FC236}">
                <a16:creationId xmlns:a16="http://schemas.microsoft.com/office/drawing/2014/main" id="{8E177542-47AE-43AF-AFB9-A24976C3DE13}"/>
              </a:ext>
            </a:extLst>
          </p:cNvPr>
          <p:cNvSpPr>
            <a:spLocks xmlns:a="http://schemas.openxmlformats.org/drawingml/2006/main" noGrp="1"/>
          </p:cNvSpPr>
          <p:nvPr/>
        </p:nvSpPr>
        <p:spPr>
          <a:xfrm xmlns:a="http://schemas.openxmlformats.org/drawingml/2006/main" flipV="0">
            <a:off x="781050" y="6953250"/>
            <a:ext cx="95" cy="48577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82" name="">
            <a:extLst xmlns:a="http://schemas.openxmlformats.org/drawingml/2006/main">
              <a:ext uri="{FF2B5EF4-FFF2-40B4-BE49-F238E27FC236}">
                <a16:creationId xmlns:a16="http://schemas.microsoft.com/office/drawing/2014/main" id="{23FCC394-361E-4425-BB8E-33C859EA56EF}"/>
              </a:ext>
            </a:extLst>
          </p:cNvPr>
          <p:cNvSpPr>
            <a:spLocks xmlns:a="http://schemas.openxmlformats.org/drawingml/2006/main" noGrp="1"/>
          </p:cNvSpPr>
          <p:nvPr/>
        </p:nvSpPr>
        <p:spPr>
          <a:xfrm xmlns:a="http://schemas.openxmlformats.org/drawingml/2006/main">
            <a:off x="4248150" y="6181725"/>
            <a:ext cx="953" cy="953"/>
          </a:xfrm>
          <a:prstGeom xmlns:a="http://schemas.openxmlformats.org/drawingml/2006/main" prst="rect">
            <a:avLst/>
          </a:prstGeom>
          <a:noFill xmlns:a="http://schemas.openxmlformats.org/drawingml/2006/main"/>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5013613E-7184-4FC3-B15A-F5848196D96A}"/>
              </a:ext>
            </a:extLst>
          </p:cNvPr>
          <p:cNvSpPr>
            <a:spLocks xmlns:a="http://schemas.openxmlformats.org/drawingml/2006/main" noGrp="1"/>
          </p:cNvSpPr>
          <p:nvPr/>
        </p:nvSpPr>
        <p:spPr>
          <a:xfrm xmlns:a="http://schemas.openxmlformats.org/drawingml/2006/main">
            <a:off x="3581400" y="71628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5" name=""/>
          <p:cNvCxnSpPr>
            <a:stCxn xmlns:a="http://schemas.openxmlformats.org/drawingml/2006/main" id="82" idx="3"/>
            <a:endCxn xmlns:a="http://schemas.openxmlformats.org/drawingml/2006/main" id="83" idx="1"/>
          </p:cNvCxnSpPr>
          <p:nvPr/>
        </p:nvCxnSpPr>
        <p:spPr>
          <a:xfrm xmlns:a="http://schemas.openxmlformats.org/drawingml/2006/main" flipH="1">
            <a:off x="3581400" y="6182202"/>
            <a:ext cx="667703" cy="981075"/>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85" name="">
            <a:extLst xmlns:a="http://schemas.openxmlformats.org/drawingml/2006/main">
              <a:ext uri="{FF2B5EF4-FFF2-40B4-BE49-F238E27FC236}">
                <a16:creationId xmlns:a16="http://schemas.microsoft.com/office/drawing/2014/main" id="{CAA846D0-9256-40BF-9C14-6C9C7E06425D}"/>
              </a:ext>
            </a:extLst>
          </p:cNvPr>
          <p:cNvSpPr>
            <a:spLocks xmlns:a="http://schemas.openxmlformats.org/drawingml/2006/main" noGrp="1"/>
          </p:cNvSpPr>
          <p:nvPr/>
        </p:nvSpPr>
        <p:spPr>
          <a:xfrm xmlns:a="http://schemas.openxmlformats.org/drawingml/2006/main">
            <a:off x="4248150" y="6953250"/>
            <a:ext cx="3429000" cy="485775"/>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15334B"/>
                </a:solidFill>
                <a:latin typeface="Arial"/>
                <a:ea typeface="Arial"/>
                <a:cs typeface="Arial"/>
              </a:defRPr>
            </a:pPr>
            <a:r>
              <a:rPr sz="1650">
                <a:solidFill>
                  <a:srgbClr val="15334B"/>
                </a:solidFill>
                <a:latin typeface="Arial"/>
                <a:ea typeface="Arial"/>
                <a:cs typeface="Arial"/>
              </a:rPr>
              <a:t>D8  Optimization Runs</a:t>
            </a:r>
          </a:p>
        </p:txBody>
      </p:sp>
      <p:sp>
        <p:nvSpPr>
          <p:cNvPr id="86" name="">
            <a:extLst xmlns:a="http://schemas.openxmlformats.org/drawingml/2006/main">
              <a:ext uri="{FF2B5EF4-FFF2-40B4-BE49-F238E27FC236}">
                <a16:creationId xmlns:a16="http://schemas.microsoft.com/office/drawing/2014/main" id="{6DE82A2E-99A2-4F5A-A314-1C5644C771BF}"/>
              </a:ext>
            </a:extLst>
          </p:cNvPr>
          <p:cNvSpPr>
            <a:spLocks xmlns:a="http://schemas.openxmlformats.org/drawingml/2006/main" noGrp="1"/>
          </p:cNvSpPr>
          <p:nvPr/>
        </p:nvSpPr>
        <p:spPr>
          <a:xfrm xmlns:a="http://schemas.openxmlformats.org/drawingml/2006/main" flipV="0">
            <a:off x="4410075" y="6953250"/>
            <a:ext cx="95" cy="485775"/>
          </a:xfrm>
          <a:prstGeom xmlns:a="http://schemas.openxmlformats.org/drawingml/2006/main" prst="line">
            <a:avLst/>
          </a:prstGeom>
          <a:noFill xmlns:a="http://schemas.openxmlformats.org/drawingml/2006/main"/>
          <a:ln xmlns:a="http://schemas.openxmlformats.org/drawingml/2006/main" w="16193">
            <a:solidFill>
              <a:srgbClr val="85AFC9"/>
            </a:solidFill>
            <a:prstDash val="solid"/>
          </a:ln>
        </p:spPr>
      </p:sp>
      <p:sp>
        <p:nvSpPr>
          <p:cNvPr id="87" name="">
            <a:extLst xmlns:a="http://schemas.openxmlformats.org/drawingml/2006/main">
              <a:ext uri="{FF2B5EF4-FFF2-40B4-BE49-F238E27FC236}">
                <a16:creationId xmlns:a16="http://schemas.microsoft.com/office/drawing/2014/main" id="{8AF05D3C-78DC-4B12-B1DA-F26B54A1BEA3}"/>
              </a:ext>
            </a:extLst>
          </p:cNvPr>
          <p:cNvSpPr>
            <a:spLocks xmlns:a="http://schemas.openxmlformats.org/drawingml/2006/main" noGrp="1"/>
          </p:cNvSpPr>
          <p:nvPr/>
        </p:nvSpPr>
        <p:spPr>
          <a:xfrm xmlns:a="http://schemas.openxmlformats.org/drawingml/2006/main">
            <a:off x="5724525" y="6362700"/>
            <a:ext cx="953" cy="953"/>
          </a:xfrm>
          <a:prstGeom xmlns:a="http://schemas.openxmlformats.org/drawingml/2006/main" prst="rect">
            <a:avLst/>
          </a:prstGeom>
          <a:noFill xmlns:a="http://schemas.openxmlformats.org/drawingml/2006/main"/>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6EAF5194-200F-4169-8F80-C1182161A08F}"/>
              </a:ext>
            </a:extLst>
          </p:cNvPr>
          <p:cNvSpPr>
            <a:spLocks xmlns:a="http://schemas.openxmlformats.org/drawingml/2006/main" noGrp="1"/>
          </p:cNvSpPr>
          <p:nvPr/>
        </p:nvSpPr>
        <p:spPr>
          <a:xfrm xmlns:a="http://schemas.openxmlformats.org/drawingml/2006/main">
            <a:off x="5724525" y="695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0" name=""/>
          <p:cNvCxnSpPr>
            <a:stCxn xmlns:a="http://schemas.openxmlformats.org/drawingml/2006/main" id="87" idx="3"/>
            <a:endCxn xmlns:a="http://schemas.openxmlformats.org/drawingml/2006/main" id="88" idx="1"/>
          </p:cNvCxnSpPr>
          <p:nvPr/>
        </p:nvCxnSpPr>
        <p:spPr>
          <a:xfrm xmlns:a="http://schemas.openxmlformats.org/drawingml/2006/main" flipH="1">
            <a:off x="5724525" y="6363177"/>
            <a:ext cx="953" cy="5905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90" name="">
            <a:extLst xmlns:a="http://schemas.openxmlformats.org/drawingml/2006/main">
              <a:ext uri="{FF2B5EF4-FFF2-40B4-BE49-F238E27FC236}">
                <a16:creationId xmlns:a16="http://schemas.microsoft.com/office/drawing/2014/main" id="{6C4488DA-B516-4283-9ED1-670EAFB5BC88}"/>
              </a:ext>
            </a:extLst>
          </p:cNvPr>
          <p:cNvSpPr>
            <a:spLocks xmlns:a="http://schemas.openxmlformats.org/drawingml/2006/main" noGrp="1"/>
          </p:cNvSpPr>
          <p:nvPr/>
        </p:nvSpPr>
        <p:spPr>
          <a:xfrm xmlns:a="http://schemas.openxmlformats.org/drawingml/2006/main">
            <a:off x="8315325" y="6810375"/>
            <a:ext cx="6286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No feasible route: record the exception</a:t>
            </a:r>
          </a:p>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and return unassigned orders to the business.</a:t>
            </a:r>
          </a:p>
        </p:txBody>
      </p:sp>
      <p:sp>
        <p:nvSpPr>
          <p:cNvPr id="91" name="">
            <a:extLst xmlns:a="http://schemas.openxmlformats.org/drawingml/2006/main">
              <a:ext uri="{FF2B5EF4-FFF2-40B4-BE49-F238E27FC236}">
                <a16:creationId xmlns:a16="http://schemas.microsoft.com/office/drawing/2014/main" id="{8DA93299-10F1-41F3-8C8B-9F2EEDE61F04}"/>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All labelled arrows carry data. Process 4.5 uses greedy improvement and 2-opt / local search.</a:t>
            </a:r>
          </a:p>
        </p:txBody>
      </p:sp>
    </p:spTree>
    <p:extLst>
      <p:ext uri="{BB962C8B-B14F-4D97-AF65-F5344CB8AC3E}">
        <p14:creationId xmlns:p14="http://schemas.microsoft.com/office/powerpoint/2010/main" val="736688900"/>
      </p:ext>
    </p:extLst>
  </p:cSld>
</p:sld>
</file>

<file path=ppt/slides/slide6.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1CA4201-23E4-45F9-8E49-559296C29D08}"/>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Optimization &amp; route recalculation</a:t>
            </a:r>
          </a:p>
        </p:txBody>
      </p:sp>
      <p:sp>
        <p:nvSpPr>
          <p:cNvPr id="2" name="">
            <a:extLst xmlns:a="http://schemas.openxmlformats.org/drawingml/2006/main">
              <a:ext uri="{FF2B5EF4-FFF2-40B4-BE49-F238E27FC236}">
                <a16:creationId xmlns:a16="http://schemas.microsoft.com/office/drawing/2014/main" id="{D6AE96AE-C448-4F3B-8BE0-381A04F42CB4}"/>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The objective is a lower-cost feasible plan, rather than a guarantee of the global optimum.</a:t>
            </a:r>
          </a:p>
        </p:txBody>
      </p:sp>
      <p:sp>
        <p:nvSpPr>
          <p:cNvPr id="3" name="">
            <a:extLst xmlns:a="http://schemas.openxmlformats.org/drawingml/2006/main">
              <a:ext uri="{FF2B5EF4-FFF2-40B4-BE49-F238E27FC236}">
                <a16:creationId xmlns:a16="http://schemas.microsoft.com/office/drawing/2014/main" id="{7E506097-CC6C-45C3-B14F-79A36C5F03CC}"/>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8C213BF5-2A2B-4D10-8325-36EABE64B314}"/>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56FACD7-218C-4302-8980-7727651B6804}"/>
              </a:ext>
            </a:extLst>
          </p:cNvPr>
          <p:cNvSpPr>
            <a:spLocks xmlns:a="http://schemas.openxmlformats.org/drawingml/2006/main" noGrp="1"/>
          </p:cNvSpPr>
          <p:nvPr/>
        </p:nvSpPr>
        <p:spPr>
          <a:xfrm xmlns:a="http://schemas.openxmlformats.org/drawingml/2006/main">
            <a:off x="619125" y="20288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How the planner improves a route</a:t>
            </a:r>
          </a:p>
        </p:txBody>
      </p:sp>
      <p:sp>
        <p:nvSpPr>
          <p:cNvPr id="6" name="">
            <a:extLst xmlns:a="http://schemas.openxmlformats.org/drawingml/2006/main">
              <a:ext uri="{FF2B5EF4-FFF2-40B4-BE49-F238E27FC236}">
                <a16:creationId xmlns:a16="http://schemas.microsoft.com/office/drawing/2014/main" id="{1ADDEDD2-00E5-498B-8979-269821FDB068}"/>
              </a:ext>
            </a:extLst>
          </p:cNvPr>
          <p:cNvSpPr>
            <a:spLocks xmlns:a="http://schemas.openxmlformats.org/drawingml/2006/main" noGrp="1"/>
          </p:cNvSpPr>
          <p:nvPr/>
        </p:nvSpPr>
        <p:spPr>
          <a:xfrm xmlns:a="http://schemas.openxmlformats.org/drawingml/2006/main">
            <a:off x="619125" y="28670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1  Build a starting plan</a:t>
            </a:r>
          </a:p>
        </p:txBody>
      </p:sp>
      <p:sp>
        <p:nvSpPr>
          <p:cNvPr id="7" name="">
            <a:extLst xmlns:a="http://schemas.openxmlformats.org/drawingml/2006/main">
              <a:ext uri="{FF2B5EF4-FFF2-40B4-BE49-F238E27FC236}">
                <a16:creationId xmlns:a16="http://schemas.microsoft.com/office/drawing/2014/main" id="{0CB72E9F-60A5-47AF-BEA8-D02A60D9464E}"/>
              </a:ext>
            </a:extLst>
          </p:cNvPr>
          <p:cNvSpPr>
            <a:spLocks xmlns:a="http://schemas.openxmlformats.org/drawingml/2006/main" noGrp="1"/>
          </p:cNvSpPr>
          <p:nvPr/>
        </p:nvSpPr>
        <p:spPr>
          <a:xfrm xmlns:a="http://schemas.openxmlformats.org/drawingml/2006/main">
            <a:off x="619125" y="33337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Choose feasible next stops using travel time,</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priority, remaining capacity and delivery windows.</a:t>
            </a:r>
          </a:p>
        </p:txBody>
      </p:sp>
      <p:sp>
        <p:nvSpPr>
          <p:cNvPr id="8" name="">
            <a:extLst xmlns:a="http://schemas.openxmlformats.org/drawingml/2006/main">
              <a:ext uri="{FF2B5EF4-FFF2-40B4-BE49-F238E27FC236}">
                <a16:creationId xmlns:a16="http://schemas.microsoft.com/office/drawing/2014/main" id="{65FD90DA-B47B-4ED9-B78A-433DF348E27A}"/>
              </a:ext>
            </a:extLst>
          </p:cNvPr>
          <p:cNvSpPr>
            <a:spLocks xmlns:a="http://schemas.openxmlformats.org/drawingml/2006/main" noGrp="1"/>
          </p:cNvSpPr>
          <p:nvPr/>
        </p:nvSpPr>
        <p:spPr>
          <a:xfrm xmlns:a="http://schemas.openxmlformats.org/drawingml/2006/main">
            <a:off x="619125" y="42005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2  Improve the stop sequence</a:t>
            </a:r>
          </a:p>
        </p:txBody>
      </p:sp>
      <p:sp>
        <p:nvSpPr>
          <p:cNvPr id="9" name="">
            <a:extLst xmlns:a="http://schemas.openxmlformats.org/drawingml/2006/main">
              <a:ext uri="{FF2B5EF4-FFF2-40B4-BE49-F238E27FC236}">
                <a16:creationId xmlns:a16="http://schemas.microsoft.com/office/drawing/2014/main" id="{67753DC8-30DF-4D2F-B44F-A35B49A8C6CD}"/>
              </a:ext>
            </a:extLst>
          </p:cNvPr>
          <p:cNvSpPr>
            <a:spLocks xmlns:a="http://schemas.openxmlformats.org/drawingml/2006/main" noGrp="1"/>
          </p:cNvSpPr>
          <p:nvPr/>
        </p:nvSpPr>
        <p:spPr>
          <a:xfrm xmlns:a="http://schemas.openxmlformats.org/drawingml/2006/main">
            <a:off x="619125" y="46672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Use 2-opt to reverse a route segment when it</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reduces cost and keeps all constraints satisfied.</a:t>
            </a:r>
          </a:p>
        </p:txBody>
      </p:sp>
      <p:sp>
        <p:nvSpPr>
          <p:cNvPr id="10" name="">
            <a:extLst xmlns:a="http://schemas.openxmlformats.org/drawingml/2006/main">
              <a:ext uri="{FF2B5EF4-FFF2-40B4-BE49-F238E27FC236}">
                <a16:creationId xmlns:a16="http://schemas.microsoft.com/office/drawing/2014/main" id="{C96B749C-4ECD-4480-9DBA-4A51F4FF017C}"/>
              </a:ext>
            </a:extLst>
          </p:cNvPr>
          <p:cNvSpPr>
            <a:spLocks xmlns:a="http://schemas.openxmlformats.org/drawingml/2006/main" noGrp="1"/>
          </p:cNvSpPr>
          <p:nvPr/>
        </p:nvSpPr>
        <p:spPr>
          <a:xfrm xmlns:a="http://schemas.openxmlformats.org/drawingml/2006/main">
            <a:off x="619125" y="5534025"/>
            <a:ext cx="795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3  Compare and keep the better plan</a:t>
            </a:r>
          </a:p>
        </p:txBody>
      </p:sp>
      <p:sp>
        <p:nvSpPr>
          <p:cNvPr id="11" name="">
            <a:extLst xmlns:a="http://schemas.openxmlformats.org/drawingml/2006/main">
              <a:ext uri="{FF2B5EF4-FFF2-40B4-BE49-F238E27FC236}">
                <a16:creationId xmlns:a16="http://schemas.microsoft.com/office/drawing/2014/main" id="{6342E0E3-3351-477F-BB5E-7D217E9AB86E}"/>
              </a:ext>
            </a:extLst>
          </p:cNvPr>
          <p:cNvSpPr>
            <a:spLocks xmlns:a="http://schemas.openxmlformats.org/drawingml/2006/main" noGrp="1"/>
          </p:cNvSpPr>
          <p:nvPr/>
        </p:nvSpPr>
        <p:spPr>
          <a:xfrm xmlns:a="http://schemas.openxmlformats.org/drawingml/2006/main">
            <a:off x="619125" y="6000750"/>
            <a:ext cx="795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Check total distance, estimated duration and</a:t>
            </a:r>
          </a:p>
          <a:p xmlns:a="http://schemas.openxmlformats.org/drawingml/2006/main">
            <a:pPr algn="l">
              <a:defRPr sz="1950" b="0">
                <a:solidFill>
                  <a:srgbClr val="526E80"/>
                </a:solidFill>
                <a:latin typeface="Arial"/>
                <a:ea typeface="Arial"/>
                <a:cs typeface="Arial"/>
              </a:defRPr>
            </a:pPr>
            <a:r>
              <a:rPr sz="1950" b="0">
                <a:solidFill>
                  <a:srgbClr val="526E80"/>
                </a:solidFill>
                <a:latin typeface="Arial"/>
                <a:ea typeface="Arial"/>
                <a:cs typeface="Arial"/>
              </a:rPr>
              <a:t>unassigned orders before saving the result.</a:t>
            </a:r>
          </a:p>
        </p:txBody>
      </p:sp>
      <p:sp>
        <p:nvSpPr>
          <p:cNvPr id="12" name="">
            <a:extLst xmlns:a="http://schemas.openxmlformats.org/drawingml/2006/main">
              <a:ext uri="{FF2B5EF4-FFF2-40B4-BE49-F238E27FC236}">
                <a16:creationId xmlns:a16="http://schemas.microsoft.com/office/drawing/2014/main" id="{98031B66-E108-4BE0-A96F-D905224433FD}"/>
              </a:ext>
            </a:extLst>
          </p:cNvPr>
          <p:cNvSpPr>
            <a:spLocks xmlns:a="http://schemas.openxmlformats.org/drawingml/2006/main" noGrp="1"/>
          </p:cNvSpPr>
          <p:nvPr/>
        </p:nvSpPr>
        <p:spPr>
          <a:xfrm xmlns:a="http://schemas.openxmlformats.org/drawingml/2006/main">
            <a:off x="9401175" y="2028825"/>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15334B"/>
                </a:solidFill>
                <a:latin typeface="Arial"/>
                <a:ea typeface="Arial"/>
                <a:cs typeface="Arial"/>
              </a:defRPr>
            </a:pPr>
            <a:r>
              <a:rPr sz="2325" b="1">
                <a:solidFill>
                  <a:srgbClr val="15334B"/>
                </a:solidFill>
                <a:latin typeface="Arial"/>
                <a:ea typeface="Arial"/>
                <a:cs typeface="Arial"/>
              </a:rPr>
              <a:t>When delivery plans change</a:t>
            </a:r>
          </a:p>
        </p:txBody>
      </p:sp>
      <p:sp>
        <p:nvSpPr>
          <p:cNvPr id="13" name="">
            <a:extLst xmlns:a="http://schemas.openxmlformats.org/drawingml/2006/main">
              <a:ext uri="{FF2B5EF4-FFF2-40B4-BE49-F238E27FC236}">
                <a16:creationId xmlns:a16="http://schemas.microsoft.com/office/drawing/2014/main" id="{B6018309-438A-450A-B575-5491092CAB6A}"/>
              </a:ext>
            </a:extLst>
          </p:cNvPr>
          <p:cNvSpPr>
            <a:spLocks xmlns:a="http://schemas.openxmlformats.org/drawingml/2006/main" noGrp="1"/>
          </p:cNvSpPr>
          <p:nvPr/>
        </p:nvSpPr>
        <p:spPr>
          <a:xfrm xmlns:a="http://schemas.openxmlformats.org/drawingml/2006/main">
            <a:off x="9401175" y="2867025"/>
            <a:ext cx="5143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New or cancelled order</a:t>
            </a:r>
          </a:p>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Driver delay</a:t>
            </a:r>
          </a:p>
          <a:p xmlns:a="http://schemas.openxmlformats.org/drawingml/2006/main">
            <a:pPr algn="l">
              <a:defRPr sz="2100" b="0">
                <a:solidFill>
                  <a:srgbClr val="15334B"/>
                </a:solidFill>
                <a:latin typeface="Arial"/>
                <a:ea typeface="Arial"/>
                <a:cs typeface="Arial"/>
              </a:defRPr>
            </a:pPr>
            <a:r>
              <a:rPr sz="2100" b="0">
                <a:solidFill>
                  <a:srgbClr val="15334B"/>
                </a:solidFill>
                <a:latin typeface="Arial"/>
                <a:ea typeface="Arial"/>
                <a:cs typeface="Arial"/>
              </a:rPr>
              <a:t>Updated customer availability</a:t>
            </a:r>
          </a:p>
        </p:txBody>
      </p:sp>
      <p:sp>
        <p:nvSpPr>
          <p:cNvPr id="14" name="">
            <a:extLst xmlns:a="http://schemas.openxmlformats.org/drawingml/2006/main">
              <a:ext uri="{FF2B5EF4-FFF2-40B4-BE49-F238E27FC236}">
                <a16:creationId xmlns:a16="http://schemas.microsoft.com/office/drawing/2014/main" id="{F85B5F4B-4594-4316-B27C-09E9E50E529E}"/>
              </a:ext>
            </a:extLst>
          </p:cNvPr>
          <p:cNvSpPr>
            <a:spLocks xmlns:a="http://schemas.openxmlformats.org/drawingml/2006/main" noGrp="1"/>
          </p:cNvSpPr>
          <p:nvPr/>
        </p:nvSpPr>
        <p:spPr>
          <a:xfrm xmlns:a="http://schemas.openxmlformats.org/drawingml/2006/main">
            <a:off x="9401175" y="45148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334B"/>
                </a:solidFill>
                <a:latin typeface="Arial"/>
                <a:ea typeface="Arial"/>
                <a:cs typeface="Arial"/>
              </a:defRPr>
            </a:pPr>
            <a:r>
              <a:rPr sz="2100" b="1">
                <a:solidFill>
                  <a:srgbClr val="15334B"/>
                </a:solidFill>
                <a:latin typeface="Arial"/>
                <a:ea typeface="Arial"/>
                <a:cs typeface="Arial"/>
              </a:rPr>
              <a:t>Replanning rule</a:t>
            </a:r>
          </a:p>
        </p:txBody>
      </p:sp>
      <p:sp>
        <p:nvSpPr>
          <p:cNvPr id="15" name="">
            <a:extLst xmlns:a="http://schemas.openxmlformats.org/drawingml/2006/main">
              <a:ext uri="{FF2B5EF4-FFF2-40B4-BE49-F238E27FC236}">
                <a16:creationId xmlns:a16="http://schemas.microsoft.com/office/drawing/2014/main" id="{9AE51E20-EAEC-422F-A08C-8BEA48BA0049}"/>
              </a:ext>
            </a:extLst>
          </p:cNvPr>
          <p:cNvSpPr>
            <a:spLocks xmlns:a="http://schemas.openxmlformats.org/drawingml/2006/main" noGrp="1"/>
          </p:cNvSpPr>
          <p:nvPr/>
        </p:nvSpPr>
        <p:spPr>
          <a:xfrm xmlns:a="http://schemas.openxmlformats.org/drawingml/2006/main">
            <a:off x="9401175" y="5048250"/>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Keep completed stops fixed. Recalculate</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remaining deliveries from each driver’s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current location and remaining capacity.</a:t>
            </a:r>
          </a:p>
        </p:txBody>
      </p:sp>
      <p:sp>
        <p:nvSpPr>
          <p:cNvPr id="16" name="">
            <a:extLst xmlns:a="http://schemas.openxmlformats.org/drawingml/2006/main">
              <a:ext uri="{FF2B5EF4-FFF2-40B4-BE49-F238E27FC236}">
                <a16:creationId xmlns:a16="http://schemas.microsoft.com/office/drawing/2014/main" id="{69695C8C-C4C7-4161-9EAA-5E93A14482BC}"/>
              </a:ext>
            </a:extLst>
          </p:cNvPr>
          <p:cNvSpPr>
            <a:spLocks xmlns:a="http://schemas.openxmlformats.org/drawingml/2006/main" noGrp="1"/>
          </p:cNvSpPr>
          <p:nvPr/>
        </p:nvSpPr>
        <p:spPr>
          <a:xfrm xmlns:a="http://schemas.openxmlformats.org/drawingml/2006/main">
            <a:off x="9401175" y="6686550"/>
            <a:ext cx="5095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Publish the revised route and ETA</a:t>
            </a:r>
          </a:p>
          <a:p xmlns:a="http://schemas.openxmlformats.org/drawingml/2006/main">
            <a:pPr algn="l">
              <a:defRPr sz="1875" b="0">
                <a:solidFill>
                  <a:srgbClr val="526E80"/>
                </a:solidFill>
                <a:latin typeface="Arial"/>
                <a:ea typeface="Arial"/>
                <a:cs typeface="Arial"/>
              </a:defRPr>
            </a:pPr>
            <a:r>
              <a:rPr sz="1875" b="0">
                <a:solidFill>
                  <a:srgbClr val="526E80"/>
                </a:solidFill>
                <a:latin typeface="Arial"/>
                <a:ea typeface="Arial"/>
                <a:cs typeface="Arial"/>
              </a:rPr>
              <a:t>to the affected driver and customer.</a:t>
            </a:r>
          </a:p>
        </p:txBody>
      </p:sp>
      <p:sp>
        <p:nvSpPr>
          <p:cNvPr id="17" name="">
            <a:extLst xmlns:a="http://schemas.openxmlformats.org/drawingml/2006/main">
              <a:ext uri="{FF2B5EF4-FFF2-40B4-BE49-F238E27FC236}">
                <a16:creationId xmlns:a16="http://schemas.microsoft.com/office/drawing/2014/main" id="{67AAFBDA-CACD-40A0-8852-62582966EF1E}"/>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Hard limits: capacity and required time windows. Priority influences the choice among feasible plans.</a:t>
            </a:r>
          </a:p>
        </p:txBody>
      </p:sp>
    </p:spTree>
    <p:extLst>
      <p:ext uri="{BB962C8B-B14F-4D97-AF65-F5344CB8AC3E}">
        <p14:creationId xmlns:p14="http://schemas.microsoft.com/office/powerpoint/2010/main" val="965008839"/>
      </p:ext>
    </p:extLst>
  </p:cSld>
</p:sld>
</file>

<file path=ppt/slides/slide7.xml><?xml version="1.0" encoding="utf-8"?>
<p:sld xmlns:p="http://schemas.openxmlformats.org/presentationml/2006/main">
  <p:cSld>
    <p:bg>
      <p:bgPr>
        <a:solidFill xmlns:a="http://schemas.openxmlformats.org/drawingml/2006/main">
          <a:srgbClr val="F7FBF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D5CA524-1740-454B-8387-08C1FC41DDE9}"/>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15334B"/>
                </a:solidFill>
                <a:latin typeface="Arial"/>
                <a:ea typeface="Arial"/>
                <a:cs typeface="Arial"/>
              </a:defRPr>
            </a:pPr>
            <a:r>
              <a:rPr sz="3300" b="1">
                <a:solidFill>
                  <a:srgbClr val="15334B"/>
                </a:solidFill>
                <a:latin typeface="Arial"/>
                <a:ea typeface="Arial"/>
                <a:cs typeface="Arial"/>
              </a:rPr>
              <a:t>System architecture &amp; expected outcome</a:t>
            </a:r>
          </a:p>
        </p:txBody>
      </p:sp>
      <p:sp>
        <p:nvSpPr>
          <p:cNvPr id="2" name="">
            <a:extLst xmlns:a="http://schemas.openxmlformats.org/drawingml/2006/main">
              <a:ext uri="{FF2B5EF4-FFF2-40B4-BE49-F238E27FC236}">
                <a16:creationId xmlns:a16="http://schemas.microsoft.com/office/drawing/2014/main" id="{92B5C307-CDE3-43F7-BF50-5F72152AB71C}"/>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26E80"/>
                </a:solidFill>
                <a:latin typeface="Arial"/>
                <a:ea typeface="Arial"/>
                <a:cs typeface="Arial"/>
              </a:defRPr>
            </a:pPr>
            <a:r>
              <a:rPr sz="1800" b="0">
                <a:solidFill>
                  <a:srgbClr val="526E80"/>
                </a:solidFill>
                <a:latin typeface="Arial"/>
                <a:ea typeface="Arial"/>
                <a:cs typeface="Arial"/>
              </a:rPr>
              <a:t>A proposed web application connects route planning, delivery tracking and map data.</a:t>
            </a:r>
          </a:p>
        </p:txBody>
      </p:sp>
      <p:sp>
        <p:nvSpPr>
          <p:cNvPr id="3" name="">
            <a:extLst xmlns:a="http://schemas.openxmlformats.org/drawingml/2006/main">
              <a:ext uri="{FF2B5EF4-FFF2-40B4-BE49-F238E27FC236}">
                <a16:creationId xmlns:a16="http://schemas.microsoft.com/office/drawing/2014/main" id="{DEB3F729-FF5A-4B1B-B7A4-D33F05CCC939}"/>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26E80"/>
                </a:solidFill>
                <a:latin typeface="Arial"/>
                <a:ea typeface="Arial"/>
                <a:cs typeface="Arial"/>
              </a:defRPr>
            </a:pPr>
            <a:r>
              <a:rPr sz="1350" b="0">
                <a:solidFill>
                  <a:srgbClr val="526E80"/>
                </a:solidFill>
                <a:latin typeface="Arial"/>
                <a:ea typeface="Arial"/>
                <a:cs typeface="Arial"/>
              </a:rPr>
              <a:t>RouteMind</a:t>
            </a:r>
          </a:p>
        </p:txBody>
      </p:sp>
      <p:sp>
        <p:nvSpPr>
          <p:cNvPr id="4" name="">
            <a:extLst xmlns:a="http://schemas.openxmlformats.org/drawingml/2006/main">
              <a:ext uri="{FF2B5EF4-FFF2-40B4-BE49-F238E27FC236}">
                <a16:creationId xmlns:a16="http://schemas.microsoft.com/office/drawing/2014/main" id="{24773B0F-6C29-46D8-AAC8-F6CF3DFFADE4}"/>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26E80"/>
                </a:solidFill>
                <a:latin typeface="Arial"/>
                <a:ea typeface="Arial"/>
                <a:cs typeface="Arial"/>
              </a:defRPr>
            </a:pPr>
            <a:r>
              <a:rPr sz="1500" b="0">
                <a:solidFill>
                  <a:srgbClr val="526E80"/>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597F8A5-86EA-4550-B87B-499F7208E44B}"/>
              </a:ext>
            </a:extLst>
          </p:cNvPr>
          <p:cNvSpPr>
            <a:spLocks xmlns:a="http://schemas.openxmlformats.org/drawingml/2006/main" noGrp="1"/>
          </p:cNvSpPr>
          <p:nvPr/>
        </p:nvSpPr>
        <p:spPr>
          <a:xfrm xmlns:a="http://schemas.openxmlformats.org/drawingml/2006/main">
            <a:off x="619125" y="2476500"/>
            <a:ext cx="3781425" cy="1447800"/>
          </a:xfrm>
          <a:prstGeom xmlns:a="http://schemas.openxmlformats.org/drawingml/2006/main" prst="rect">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Frontend</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Business, driver &amp; customer views</a:t>
            </a:r>
          </a:p>
        </p:txBody>
      </p:sp>
      <p:sp>
        <p:nvSpPr>
          <p:cNvPr id="6" name="">
            <a:extLst xmlns:a="http://schemas.openxmlformats.org/drawingml/2006/main">
              <a:ext uri="{FF2B5EF4-FFF2-40B4-BE49-F238E27FC236}">
                <a16:creationId xmlns:a16="http://schemas.microsoft.com/office/drawing/2014/main" id="{E03765CF-798F-4D7B-9415-E835E2CF6F62}"/>
              </a:ext>
            </a:extLst>
          </p:cNvPr>
          <p:cNvSpPr>
            <a:spLocks xmlns:a="http://schemas.openxmlformats.org/drawingml/2006/main" noGrp="1"/>
          </p:cNvSpPr>
          <p:nvPr/>
        </p:nvSpPr>
        <p:spPr>
          <a:xfrm xmlns:a="http://schemas.openxmlformats.org/drawingml/2006/main">
            <a:off x="5781675" y="2476500"/>
            <a:ext cx="3762375" cy="1447800"/>
          </a:xfrm>
          <a:prstGeom xmlns:a="http://schemas.openxmlformats.org/drawingml/2006/main" prst="rect">
            <a:avLst/>
          </a:prstGeom>
          <a:solidFill xmlns:a="http://schemas.openxmlformats.org/drawingml/2006/main">
            <a:srgbClr val="D2EAF9"/>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Backend</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Planning &amp; tracking services</a:t>
            </a:r>
          </a:p>
        </p:txBody>
      </p:sp>
      <p:sp>
        <p:nvSpPr>
          <p:cNvPr id="7" name="">
            <a:extLst xmlns:a="http://schemas.openxmlformats.org/drawingml/2006/main">
              <a:ext uri="{FF2B5EF4-FFF2-40B4-BE49-F238E27FC236}">
                <a16:creationId xmlns:a16="http://schemas.microsoft.com/office/drawing/2014/main" id="{8F5D2383-1650-4BE4-82E5-0E2282FFE555}"/>
              </a:ext>
            </a:extLst>
          </p:cNvPr>
          <p:cNvSpPr>
            <a:spLocks xmlns:a="http://schemas.openxmlformats.org/drawingml/2006/main" noGrp="1"/>
          </p:cNvSpPr>
          <p:nvPr/>
        </p:nvSpPr>
        <p:spPr>
          <a:xfrm xmlns:a="http://schemas.openxmlformats.org/drawingml/2006/main">
            <a:off x="10925175" y="2476500"/>
            <a:ext cx="3686175" cy="1447800"/>
          </a:xfrm>
          <a:prstGeom xmlns:a="http://schemas.openxmlformats.org/drawingml/2006/main" prst="can">
            <a:avLst/>
          </a:prstGeom>
          <a:solidFill xmlns:a="http://schemas.openxmlformats.org/drawingml/2006/main">
            <a:srgbClr val="FFFFFF"/>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Database</a:t>
            </a:r>
          </a:p>
          <a:p xmlns:a="http://schemas.openxmlformats.org/drawingml/2006/main">
            <a:pPr algn="ctr">
              <a:defRPr sz="2250">
                <a:solidFill>
                  <a:srgbClr val="15334B"/>
                </a:solidFill>
                <a:latin typeface="Arial"/>
                <a:ea typeface="Arial"/>
                <a:cs typeface="Arial"/>
              </a:defRPr>
            </a:pPr>
            <a:r>
              <a:rPr sz="2250">
                <a:solidFill>
                  <a:srgbClr val="15334B"/>
                </a:solidFill>
                <a:latin typeface="Arial"/>
                <a:ea typeface="Arial"/>
                <a:cs typeface="Arial"/>
              </a:rPr>
              <a:t>D1–D8 records</a:t>
            </a:r>
          </a:p>
        </p:txBody>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4400550" y="3200400"/>
            <a:ext cx="1381125" cy="0"/>
          </a:xfrm>
          <a:prstGeom xmlns:a="http://schemas.openxmlformats.org/drawingml/2006/main" prst="straightConnector1">
            <a:avLst/>
          </a:prstGeom>
          <a:ln xmlns:a="http://schemas.openxmlformats.org/drawingml/2006/main" w="17145">
            <a:solidFill>
              <a:srgbClr val="526E80"/>
            </a:solidFill>
            <a:tailEnd type="triangle" w="sm" len="sm"/>
          </a:ln>
        </p:spPr>
      </p:cxnSp>
      <p:cxnSp>
        <p:nvCxnSpPr>
          <p:cNvPr id="30" name=""/>
          <p:cNvCxnSpPr>
            <a:stCxn xmlns:a="http://schemas.openxmlformats.org/drawingml/2006/main" id="6" idx="3"/>
            <a:endCxn xmlns:a="http://schemas.openxmlformats.org/drawingml/2006/main" id="7" idx="2"/>
          </p:cNvCxnSpPr>
          <p:nvPr/>
        </p:nvCxnSpPr>
        <p:spPr>
          <a:xfrm xmlns:a="http://schemas.openxmlformats.org/drawingml/2006/main">
            <a:off x="9544050" y="3200400"/>
            <a:ext cx="1381125" cy="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0" name="">
            <a:extLst xmlns:a="http://schemas.openxmlformats.org/drawingml/2006/main">
              <a:ext uri="{FF2B5EF4-FFF2-40B4-BE49-F238E27FC236}">
                <a16:creationId xmlns:a16="http://schemas.microsoft.com/office/drawing/2014/main" id="{5340982F-DFD3-4FF0-B826-5A3DFC6EF7E9}"/>
              </a:ext>
            </a:extLst>
          </p:cNvPr>
          <p:cNvSpPr>
            <a:spLocks xmlns:a="http://schemas.openxmlformats.org/drawingml/2006/main" noGrp="1"/>
          </p:cNvSpPr>
          <p:nvPr/>
        </p:nvSpPr>
        <p:spPr>
          <a:xfrm xmlns:a="http://schemas.openxmlformats.org/drawingml/2006/main">
            <a:off x="4400550" y="1800225"/>
            <a:ext cx="1371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Requests /</a:t>
            </a:r>
          </a:p>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responses</a:t>
            </a:r>
          </a:p>
        </p:txBody>
      </p:sp>
      <p:sp>
        <p:nvSpPr>
          <p:cNvPr id="11" name="">
            <a:extLst xmlns:a="http://schemas.openxmlformats.org/drawingml/2006/main">
              <a:ext uri="{FF2B5EF4-FFF2-40B4-BE49-F238E27FC236}">
                <a16:creationId xmlns:a16="http://schemas.microsoft.com/office/drawing/2014/main" id="{DB2BDCB3-0632-463C-B061-BCEBD3546A29}"/>
              </a:ext>
            </a:extLst>
          </p:cNvPr>
          <p:cNvSpPr>
            <a:spLocks xmlns:a="http://schemas.openxmlformats.org/drawingml/2006/main" noGrp="1"/>
          </p:cNvSpPr>
          <p:nvPr/>
        </p:nvSpPr>
        <p:spPr>
          <a:xfrm xmlns:a="http://schemas.openxmlformats.org/drawingml/2006/main">
            <a:off x="9553575" y="1800225"/>
            <a:ext cx="1381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Read /</a:t>
            </a:r>
          </a:p>
          <a:p xmlns:a="http://schemas.openxmlformats.org/drawingml/2006/main">
            <a:pPr algn="ctr">
              <a:defRPr sz="1575" b="0">
                <a:solidFill>
                  <a:srgbClr val="526E80"/>
                </a:solidFill>
                <a:latin typeface="Arial"/>
                <a:ea typeface="Arial"/>
                <a:cs typeface="Arial"/>
              </a:defRPr>
            </a:pPr>
            <a:r>
              <a:rPr sz="1575" b="0">
                <a:solidFill>
                  <a:srgbClr val="526E80"/>
                </a:solidFill>
                <a:latin typeface="Arial"/>
                <a:ea typeface="Arial"/>
                <a:cs typeface="Arial"/>
              </a:rPr>
              <a:t>write data</a:t>
            </a:r>
          </a:p>
        </p:txBody>
      </p:sp>
      <p:sp>
        <p:nvSpPr>
          <p:cNvPr id="12" name="">
            <a:extLst xmlns:a="http://schemas.openxmlformats.org/drawingml/2006/main">
              <a:ext uri="{FF2B5EF4-FFF2-40B4-BE49-F238E27FC236}">
                <a16:creationId xmlns:a16="http://schemas.microsoft.com/office/drawing/2014/main" id="{941F12DE-63E5-40FD-B4E5-49EBC0DD3944}"/>
              </a:ext>
            </a:extLst>
          </p:cNvPr>
          <p:cNvSpPr>
            <a:spLocks xmlns:a="http://schemas.openxmlformats.org/drawingml/2006/main" noGrp="1"/>
          </p:cNvSpPr>
          <p:nvPr/>
        </p:nvSpPr>
        <p:spPr>
          <a:xfrm xmlns:a="http://schemas.openxmlformats.org/drawingml/2006/main">
            <a:off x="619125" y="4295775"/>
            <a:ext cx="4095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Order and fleet entry</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 and map view</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Delivery status and ETA</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Business analytics</a:t>
            </a:r>
          </a:p>
        </p:txBody>
      </p:sp>
      <p:sp>
        <p:nvSpPr>
          <p:cNvPr id="13" name="">
            <a:extLst xmlns:a="http://schemas.openxmlformats.org/drawingml/2006/main">
              <a:ext uri="{FF2B5EF4-FFF2-40B4-BE49-F238E27FC236}">
                <a16:creationId xmlns:a16="http://schemas.microsoft.com/office/drawing/2014/main" id="{AEC6FB37-9CC2-4392-9BC9-DA9697F3C98D}"/>
              </a:ext>
            </a:extLst>
          </p:cNvPr>
          <p:cNvSpPr>
            <a:spLocks xmlns:a="http://schemas.openxmlformats.org/drawingml/2006/main" noGrp="1"/>
          </p:cNvSpPr>
          <p:nvPr/>
        </p:nvSpPr>
        <p:spPr>
          <a:xfrm xmlns:a="http://schemas.openxmlformats.org/drawingml/2006/main">
            <a:off x="5781675" y="4295775"/>
            <a:ext cx="44196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Authentication and access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Constraint validation</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 optimization</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Replanning and notifications</a:t>
            </a:r>
          </a:p>
        </p:txBody>
      </p:sp>
      <p:sp>
        <p:nvSpPr>
          <p:cNvPr id="14" name="">
            <a:extLst xmlns:a="http://schemas.openxmlformats.org/drawingml/2006/main">
              <a:ext uri="{FF2B5EF4-FFF2-40B4-BE49-F238E27FC236}">
                <a16:creationId xmlns:a16="http://schemas.microsoft.com/office/drawing/2014/main" id="{64248A56-FFF0-426A-A018-C5D96223DF12}"/>
              </a:ext>
            </a:extLst>
          </p:cNvPr>
          <p:cNvSpPr>
            <a:spLocks xmlns:a="http://schemas.openxmlformats.org/drawingml/2006/main" noGrp="1"/>
          </p:cNvSpPr>
          <p:nvPr/>
        </p:nvSpPr>
        <p:spPr>
          <a:xfrm xmlns:a="http://schemas.openxmlformats.org/drawingml/2006/main">
            <a:off x="10925175" y="4295775"/>
            <a:ext cx="3762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Orders, drivers and vehicles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Routes and locations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Delivery events</a:t>
            </a:r>
          </a:p>
          <a:p xmlns:a="http://schemas.openxmlformats.org/drawingml/2006/main">
            <a:pPr algn="l">
              <a:defRPr sz="2025" b="0">
                <a:solidFill>
                  <a:srgbClr val="15334B"/>
                </a:solidFill>
                <a:latin typeface="Arial"/>
                <a:ea typeface="Arial"/>
                <a:cs typeface="Arial"/>
              </a:defRPr>
            </a:pPr>
            <a:r>
              <a:rPr sz="2025" b="0">
                <a:solidFill>
                  <a:srgbClr val="15334B"/>
                </a:solidFill>
                <a:latin typeface="Arial"/>
                <a:ea typeface="Arial"/>
                <a:cs typeface="Arial"/>
              </a:rPr>
              <a:t>Optimization run history</a:t>
            </a:r>
          </a:p>
        </p:txBody>
      </p:sp>
      <p:sp>
        <p:nvSpPr>
          <p:cNvPr id="15" name="">
            <a:extLst xmlns:a="http://schemas.openxmlformats.org/drawingml/2006/main">
              <a:ext uri="{FF2B5EF4-FFF2-40B4-BE49-F238E27FC236}">
                <a16:creationId xmlns:a16="http://schemas.microsoft.com/office/drawing/2014/main" id="{79943D13-5643-4A03-9FD7-4CABC1C4068C}"/>
              </a:ext>
            </a:extLst>
          </p:cNvPr>
          <p:cNvSpPr>
            <a:spLocks xmlns:a="http://schemas.openxmlformats.org/drawingml/2006/main" noGrp="1"/>
          </p:cNvSpPr>
          <p:nvPr/>
        </p:nvSpPr>
        <p:spPr>
          <a:xfrm xmlns:a="http://schemas.openxmlformats.org/drawingml/2006/main">
            <a:off x="5781675" y="6315075"/>
            <a:ext cx="3762375" cy="571500"/>
          </a:xfrm>
          <a:prstGeom xmlns:a="http://schemas.openxmlformats.org/drawingml/2006/main" prst="rect">
            <a:avLst/>
          </a:prstGeom>
          <a:solidFill xmlns:a="http://schemas.openxmlformats.org/drawingml/2006/main">
            <a:srgbClr val="F1EBDD"/>
          </a:solidFill>
          <a:ln xmlns:a="http://schemas.openxmlformats.org/drawingml/2006/main" w="15240">
            <a:solidFill>
              <a:srgbClr val="85AFC9"/>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75">
                <a:solidFill>
                  <a:srgbClr val="15334B"/>
                </a:solidFill>
                <a:latin typeface="Arial"/>
                <a:ea typeface="Arial"/>
                <a:cs typeface="Arial"/>
              </a:defRPr>
            </a:pPr>
            <a:r>
              <a:rPr sz="1875">
                <a:solidFill>
                  <a:srgbClr val="15334B"/>
                </a:solidFill>
                <a:latin typeface="Arial"/>
                <a:ea typeface="Arial"/>
                <a:cs typeface="Arial"/>
              </a:rPr>
              <a:t>Map / Routing API</a:t>
            </a:r>
          </a:p>
        </p:txBody>
      </p:sp>
      <p:sp>
        <p:nvSpPr>
          <p:cNvPr id="16" name="">
            <a:extLst xmlns:a="http://schemas.openxmlformats.org/drawingml/2006/main">
              <a:ext uri="{FF2B5EF4-FFF2-40B4-BE49-F238E27FC236}">
                <a16:creationId xmlns:a16="http://schemas.microsoft.com/office/drawing/2014/main" id="{879FF0D9-5F8A-4BAC-A018-699B24EDCFE6}"/>
              </a:ext>
            </a:extLst>
          </p:cNvPr>
          <p:cNvSpPr>
            <a:spLocks xmlns:a="http://schemas.openxmlformats.org/drawingml/2006/main" noGrp="1"/>
          </p:cNvSpPr>
          <p:nvPr/>
        </p:nvSpPr>
        <p:spPr>
          <a:xfrm xmlns:a="http://schemas.openxmlformats.org/drawingml/2006/main">
            <a:off x="7658100" y="6315075"/>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95C3E71-4839-4B62-8F7F-610008C16A25}"/>
              </a:ext>
            </a:extLst>
          </p:cNvPr>
          <p:cNvSpPr>
            <a:spLocks xmlns:a="http://schemas.openxmlformats.org/drawingml/2006/main" noGrp="1"/>
          </p:cNvSpPr>
          <p:nvPr/>
        </p:nvSpPr>
        <p:spPr>
          <a:xfrm xmlns:a="http://schemas.openxmlformats.org/drawingml/2006/main">
            <a:off x="7658100" y="58388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39" name=""/>
          <p:cNvCxnSpPr>
            <a:stCxn xmlns:a="http://schemas.openxmlformats.org/drawingml/2006/main" id="16" idx="3"/>
            <a:endCxn xmlns:a="http://schemas.openxmlformats.org/drawingml/2006/main" id="17" idx="1"/>
          </p:cNvCxnSpPr>
          <p:nvPr/>
        </p:nvCxnSpPr>
        <p:spPr>
          <a:xfrm xmlns:a="http://schemas.openxmlformats.org/drawingml/2006/main" flipH="1" flipV="1">
            <a:off x="7658100" y="5839302"/>
            <a:ext cx="953" cy="476250"/>
          </a:xfrm>
          <a:prstGeom xmlns:a="http://schemas.openxmlformats.org/drawingml/2006/main" prst="straightConnector1">
            <a:avLst/>
          </a:prstGeom>
          <a:ln xmlns:a="http://schemas.openxmlformats.org/drawingml/2006/main" w="17145">
            <a:solidFill>
              <a:srgbClr val="526E80"/>
            </a:solidFill>
            <a:tailEnd type="triangle" w="sm" len="sm"/>
          </a:ln>
        </p:spPr>
      </p:cxnSp>
      <p:sp>
        <p:nvSpPr>
          <p:cNvPr id="19" name="">
            <a:extLst xmlns:a="http://schemas.openxmlformats.org/drawingml/2006/main">
              <a:ext uri="{FF2B5EF4-FFF2-40B4-BE49-F238E27FC236}">
                <a16:creationId xmlns:a16="http://schemas.microsoft.com/office/drawing/2014/main" id="{91216007-3069-42CB-8EBD-43341CB84E36}"/>
              </a:ext>
            </a:extLst>
          </p:cNvPr>
          <p:cNvSpPr>
            <a:spLocks xmlns:a="http://schemas.openxmlformats.org/drawingml/2006/main" noGrp="1"/>
          </p:cNvSpPr>
          <p:nvPr/>
        </p:nvSpPr>
        <p:spPr>
          <a:xfrm xmlns:a="http://schemas.openxmlformats.org/drawingml/2006/main">
            <a:off x="619125" y="6400800"/>
            <a:ext cx="497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26E80"/>
                </a:solidFill>
                <a:latin typeface="Arial"/>
                <a:ea typeface="Arial"/>
                <a:cs typeface="Arial"/>
              </a:defRPr>
            </a:pPr>
            <a:r>
              <a:rPr sz="1725" b="0">
                <a:solidFill>
                  <a:srgbClr val="526E80"/>
                </a:solidFill>
                <a:latin typeface="Arial"/>
                <a:ea typeface="Arial"/>
                <a:cs typeface="Arial"/>
              </a:rPr>
              <a:t>Location, distance and travel-time queries</a:t>
            </a:r>
          </a:p>
        </p:txBody>
      </p:sp>
      <p:sp>
        <p:nvSpPr>
          <p:cNvPr id="20" name="">
            <a:extLst xmlns:a="http://schemas.openxmlformats.org/drawingml/2006/main">
              <a:ext uri="{FF2B5EF4-FFF2-40B4-BE49-F238E27FC236}">
                <a16:creationId xmlns:a16="http://schemas.microsoft.com/office/drawing/2014/main" id="{20EFD8BA-D4E8-4D08-8C1E-100CEBDAE10F}"/>
              </a:ext>
            </a:extLst>
          </p:cNvPr>
          <p:cNvSpPr>
            <a:spLocks xmlns:a="http://schemas.openxmlformats.org/drawingml/2006/main" noGrp="1"/>
          </p:cNvSpPr>
          <p:nvPr/>
        </p:nvSpPr>
        <p:spPr>
          <a:xfrm xmlns:a="http://schemas.openxmlformats.org/drawingml/2006/main">
            <a:off x="619125" y="7296150"/>
            <a:ext cx="3733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2874A1"/>
                </a:solidFill>
                <a:latin typeface="Arial"/>
                <a:ea typeface="Arial"/>
                <a:cs typeface="Arial"/>
              </a:defRPr>
            </a:pPr>
            <a:r>
              <a:rPr sz="2175" b="1">
                <a:solidFill>
                  <a:srgbClr val="2874A1"/>
                </a:solidFill>
                <a:latin typeface="Arial"/>
                <a:ea typeface="Arial"/>
                <a:cs typeface="Arial"/>
              </a:rPr>
              <a:t>Expected outcome</a:t>
            </a:r>
          </a:p>
        </p:txBody>
      </p:sp>
      <p:sp>
        <p:nvSpPr>
          <p:cNvPr id="21" name="">
            <a:extLst xmlns:a="http://schemas.openxmlformats.org/drawingml/2006/main">
              <a:ext uri="{FF2B5EF4-FFF2-40B4-BE49-F238E27FC236}">
                <a16:creationId xmlns:a16="http://schemas.microsoft.com/office/drawing/2014/main" id="{0E874E6A-E1DC-4CB0-AE55-93ACD5A42C9A}"/>
              </a:ext>
            </a:extLst>
          </p:cNvPr>
          <p:cNvSpPr>
            <a:spLocks xmlns:a="http://schemas.openxmlformats.org/drawingml/2006/main" noGrp="1"/>
          </p:cNvSpPr>
          <p:nvPr/>
        </p:nvSpPr>
        <p:spPr>
          <a:xfrm xmlns:a="http://schemas.openxmlformats.org/drawingml/2006/main">
            <a:off x="4581525" y="7162800"/>
            <a:ext cx="99536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More consistent planning, visible delivery progress</a:t>
            </a:r>
          </a:p>
          <a:p xmlns:a="http://schemas.openxmlformats.org/drawingml/2006/main">
            <a:pPr algn="l">
              <a:defRPr sz="2175" b="0">
                <a:solidFill>
                  <a:srgbClr val="15334B"/>
                </a:solidFill>
                <a:latin typeface="Arial"/>
                <a:ea typeface="Arial"/>
                <a:cs typeface="Arial"/>
              </a:defRPr>
            </a:pPr>
            <a:r>
              <a:rPr sz="2175" b="0">
                <a:solidFill>
                  <a:srgbClr val="15334B"/>
                </a:solidFill>
                <a:latin typeface="Arial"/>
                <a:ea typeface="Arial"/>
                <a:cs typeface="Arial"/>
              </a:rPr>
              <a:t>and clear reporting of infeasible orders.</a:t>
            </a:r>
          </a:p>
        </p:txBody>
      </p:sp>
    </p:spTree>
    <p:extLst>
      <p:ext uri="{BB962C8B-B14F-4D97-AF65-F5344CB8AC3E}">
        <p14:creationId xmlns:p14="http://schemas.microsoft.com/office/powerpoint/2010/main" val="21331785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2026-09-15T19:00:10.1250000Z</dcterms:created>
  <dcterms:modified xsi:type="dcterms:W3CDTF">2026-09-15T19:00:10.1250000Z</dcterms:modified>
</coreProperties>
</file>